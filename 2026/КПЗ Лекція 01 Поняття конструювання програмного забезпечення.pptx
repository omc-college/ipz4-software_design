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5" autoAdjust="0"/>
    <p:restoredTop sz="94660"/>
  </p:normalViewPr>
  <p:slideViewPr>
    <p:cSldViewPr snapToGrid="0">
      <p:cViewPr>
        <p:scale>
          <a:sx n="125" d="100"/>
          <a:sy n="125" d="100"/>
        </p:scale>
        <p:origin x="108" y="-5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ru-RU" smtClean="0"/>
              <a:t>Образец заголовка</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9/6/2026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ru-RU" smtClean="0"/>
              <a:t>Образец заголовка</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61BEF0D-F0BB-DE4B-95CE-6DB70DBA9567}" type="datetimeFigureOut">
              <a:rPr lang="en-US" dirty="0"/>
              <a:pPr/>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ru-RU" smtClean="0"/>
              <a:t>Образец заголовка</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61BEF0D-F0BB-DE4B-95CE-6DB70DBA9567}" type="datetimeFigureOut">
              <a:rPr lang="en-US" dirty="0"/>
              <a:pPr/>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61BEF0D-F0BB-DE4B-95CE-6DB70DBA9567}" type="datetimeFigureOut">
              <a:rPr lang="en-US" dirty="0"/>
              <a:pPr/>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ru-RU" smtClean="0"/>
              <a:t>Образец заголовка</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smtClean="0"/>
              <a:t>Образец текста</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ru-RU" smtClean="0"/>
              <a:t>Образец заголовка</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ru-RU" smtClean="0"/>
              <a:t>Образец заголовка</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61BEF0D-F0BB-DE4B-95CE-6DB70DBA9567}" type="datetimeFigureOut">
              <a:rPr lang="en-US" dirty="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9/6/2026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omc-college/ipz4-software_design/tree/master/2026"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hyperlink" Target="https://uk.wikipedia.org/wiki/%D0%9A%D0%BE%D0%BC%D0%BF%27%D1%8E%D1%82%D0%B5%D1%80%D0%BD%D0%B0_%D0%BF%D1%80%D0%BE%D0%B3%D1%80%D0%B0%D0%BC%D0%B0" TargetMode="Externa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267339" y="1871131"/>
            <a:ext cx="7576457" cy="2094379"/>
          </a:xfrm>
        </p:spPr>
        <p:txBody>
          <a:bodyPr/>
          <a:lstStyle/>
          <a:p>
            <a:r>
              <a:rPr lang="uk-UA" b="1" dirty="0" smtClean="0">
                <a:solidFill>
                  <a:srgbClr val="FF0000"/>
                </a:solidFill>
              </a:rPr>
              <a:t>Конструювання </a:t>
            </a:r>
            <a:r>
              <a:rPr lang="uk-UA" b="1" dirty="0">
                <a:solidFill>
                  <a:srgbClr val="FF0000"/>
                </a:solidFill>
              </a:rPr>
              <a:t>програмного забезпечення </a:t>
            </a:r>
            <a:endParaRPr lang="uk-UA" b="1" dirty="0">
              <a:solidFill>
                <a:srgbClr val="FF0000"/>
              </a:solidFill>
            </a:endParaRPr>
          </a:p>
        </p:txBody>
      </p:sp>
      <p:sp>
        <p:nvSpPr>
          <p:cNvPr id="3" name="Подзаголовок 2"/>
          <p:cNvSpPr>
            <a:spLocks noGrp="1"/>
          </p:cNvSpPr>
          <p:nvPr>
            <p:ph type="subTitle" idx="1"/>
          </p:nvPr>
        </p:nvSpPr>
        <p:spPr>
          <a:xfrm>
            <a:off x="2692398" y="3862873"/>
            <a:ext cx="6815669" cy="951723"/>
          </a:xfrm>
        </p:spPr>
        <p:txBody>
          <a:bodyPr>
            <a:noAutofit/>
          </a:bodyPr>
          <a:lstStyle/>
          <a:p>
            <a:r>
              <a:rPr lang="uk-UA" sz="2800" b="1" dirty="0" smtClean="0"/>
              <a:t>Поняття </a:t>
            </a:r>
            <a:r>
              <a:rPr lang="uk-UA" sz="2800" b="1" dirty="0"/>
              <a:t>конструювання програмного забезпечення </a:t>
            </a:r>
            <a:endParaRPr lang="uk-UA" sz="2800" b="1" dirty="0"/>
          </a:p>
        </p:txBody>
      </p:sp>
      <p:sp>
        <p:nvSpPr>
          <p:cNvPr id="4" name="TextBox 3"/>
          <p:cNvSpPr txBox="1"/>
          <p:nvPr/>
        </p:nvSpPr>
        <p:spPr>
          <a:xfrm>
            <a:off x="2344660" y="4814596"/>
            <a:ext cx="7511143" cy="369332"/>
          </a:xfrm>
          <a:prstGeom prst="rect">
            <a:avLst/>
          </a:prstGeom>
          <a:noFill/>
        </p:spPr>
        <p:txBody>
          <a:bodyPr wrap="square" rtlCol="0">
            <a:spAutoFit/>
          </a:bodyPr>
          <a:lstStyle/>
          <a:p>
            <a:r>
              <a:rPr lang="uk-UA" b="1" u="sng" dirty="0">
                <a:ln w="0"/>
                <a:solidFill>
                  <a:srgbClr val="7030A0"/>
                </a:solidFill>
                <a:hlinkClick r:id="rId2"/>
              </a:rPr>
              <a:t>https://github.com/omc-college/ipz4-software_design/tree/master/2026</a:t>
            </a:r>
            <a:endParaRPr lang="uk-UA" b="1" dirty="0">
              <a:ln w="0"/>
              <a:solidFill>
                <a:srgbClr val="7030A0"/>
              </a:solidFill>
            </a:endParaRPr>
          </a:p>
        </p:txBody>
      </p:sp>
    </p:spTree>
    <p:extLst>
      <p:ext uri="{BB962C8B-B14F-4D97-AF65-F5344CB8AC3E}">
        <p14:creationId xmlns:p14="http://schemas.microsoft.com/office/powerpoint/2010/main" val="3187741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709128"/>
            <a:ext cx="9609668" cy="541176"/>
          </a:xfrm>
        </p:spPr>
        <p:txBody>
          <a:bodyPr>
            <a:normAutofit fontScale="90000"/>
          </a:bodyPr>
          <a:lstStyle/>
          <a:p>
            <a:pPr algn="ctr"/>
            <a:r>
              <a:rPr lang="uk-UA" b="1" dirty="0" err="1" smtClean="0">
                <a:solidFill>
                  <a:srgbClr val="FF0000"/>
                </a:solidFill>
              </a:rPr>
              <a:t>Термінодогія</a:t>
            </a:r>
            <a:endParaRPr lang="uk-UA" b="1" dirty="0">
              <a:solidFill>
                <a:srgbClr val="FF0000"/>
              </a:solidFill>
            </a:endParaRPr>
          </a:p>
        </p:txBody>
      </p:sp>
      <p:sp>
        <p:nvSpPr>
          <p:cNvPr id="3" name="Текст 2"/>
          <p:cNvSpPr>
            <a:spLocks noGrp="1"/>
          </p:cNvSpPr>
          <p:nvPr>
            <p:ph type="body" idx="1"/>
          </p:nvPr>
        </p:nvSpPr>
        <p:spPr>
          <a:xfrm>
            <a:off x="1295401" y="1250304"/>
            <a:ext cx="9609668" cy="4387477"/>
          </a:xfrm>
        </p:spPr>
        <p:txBody>
          <a:bodyPr>
            <a:normAutofit fontScale="92500" lnSpcReduction="20000"/>
          </a:bodyPr>
          <a:lstStyle/>
          <a:p>
            <a:r>
              <a:rPr lang="uk-UA" dirty="0" smtClean="0"/>
              <a:t>	Термін </a:t>
            </a:r>
            <a:r>
              <a:rPr lang="uk-UA" dirty="0"/>
              <a:t>конструювання  програмного забезпечення (</a:t>
            </a:r>
            <a:r>
              <a:rPr lang="uk-UA" dirty="0" err="1"/>
              <a:t>software</a:t>
            </a:r>
            <a:r>
              <a:rPr lang="uk-UA" dirty="0"/>
              <a:t> </a:t>
            </a:r>
            <a:r>
              <a:rPr lang="uk-UA" dirty="0" err="1"/>
              <a:t>construction</a:t>
            </a:r>
            <a:r>
              <a:rPr lang="uk-UA" dirty="0"/>
              <a:t>) описує детальне створення  робочої програмної системи за допомогою комбінації кодування, верифікації  (перевірки), модульного тестування (</a:t>
            </a:r>
            <a:r>
              <a:rPr lang="uk-UA" dirty="0" err="1"/>
              <a:t>unit</a:t>
            </a:r>
            <a:r>
              <a:rPr lang="uk-UA" dirty="0"/>
              <a:t> </a:t>
            </a:r>
            <a:r>
              <a:rPr lang="uk-UA" dirty="0" err="1"/>
              <a:t>testing</a:t>
            </a:r>
            <a:r>
              <a:rPr lang="uk-UA" dirty="0"/>
              <a:t>), інтеграційного тестування і  налагодження</a:t>
            </a:r>
            <a:r>
              <a:rPr lang="uk-UA" dirty="0" smtClean="0"/>
              <a:t>.</a:t>
            </a:r>
          </a:p>
          <a:p>
            <a:r>
              <a:rPr lang="en-US" u="dotted" dirty="0" smtClean="0"/>
              <a:t>	</a:t>
            </a:r>
            <a:r>
              <a:rPr lang="uk-UA" u="dotted" dirty="0" smtClean="0"/>
              <a:t>Проектування </a:t>
            </a:r>
            <a:r>
              <a:rPr lang="uk-UA" u="dotted" dirty="0"/>
              <a:t>програмного забезпечення </a:t>
            </a:r>
            <a:r>
              <a:rPr lang="uk-UA" u="dotted" dirty="0" smtClean="0"/>
              <a:t>починається з </a:t>
            </a:r>
            <a:r>
              <a:rPr lang="uk-UA" u="dotted" dirty="0"/>
              <a:t>його конструювання, яке визначає стратегію для його внутрішнього проектування - для етапу програмування.</a:t>
            </a:r>
            <a:r>
              <a:rPr lang="uk-UA" dirty="0"/>
              <a:t> Цей етап виконується без використання мови програмування, але з орієнтацією на певний програмний інструмент розробки ПЗ</a:t>
            </a:r>
            <a:r>
              <a:rPr lang="uk-UA" dirty="0" smtClean="0"/>
              <a:t>.</a:t>
            </a:r>
            <a:endParaRPr lang="en-US" dirty="0" smtClean="0"/>
          </a:p>
          <a:p>
            <a:r>
              <a:rPr lang="en-US" dirty="0" smtClean="0"/>
              <a:t>	</a:t>
            </a:r>
            <a:r>
              <a:rPr lang="uk-UA" dirty="0" smtClean="0"/>
              <a:t>Проектування  </a:t>
            </a:r>
            <a:r>
              <a:rPr lang="uk-UA" dirty="0"/>
              <a:t>ПЗ починається  з його конструювання, яке визначає стратегію для його внутрішнього проектування - для етапу  програмування. Цей етап виконується без використання мови програмування, але з орієнтацією на певний програмний інструмент розробки ПЗ. Конструювання ПЗ – створення ПЗ з конструкцій (блоків, операторів, функцій) і його перевірка методами верифікації і тестування. До інструментів конструювання ПЗ віднесені мови конструювання, програмні методи й інструментальні системи (компілятори, СКБД/СУБД, генератори звітів, системи керування версіями, конфігурацією, тестуванням й ін.). До формальних засобів опису процесу конструювання ПЗ, взаємозв'язків між людиною і комп'ютером з урахуванням середовища оточення віднесені структурні діаграми Джексона.</a:t>
            </a:r>
            <a:endParaRPr lang="uk-UA" dirty="0" smtClean="0"/>
          </a:p>
          <a:p>
            <a:endParaRPr lang="uk-UA" dirty="0"/>
          </a:p>
          <a:p>
            <a:endParaRPr lang="uk-UA" dirty="0"/>
          </a:p>
        </p:txBody>
      </p:sp>
    </p:spTree>
    <p:extLst>
      <p:ext uri="{BB962C8B-B14F-4D97-AF65-F5344CB8AC3E}">
        <p14:creationId xmlns:p14="http://schemas.microsoft.com/office/powerpoint/2010/main" val="1480237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83435" y="789316"/>
            <a:ext cx="9609668" cy="535631"/>
          </a:xfrm>
        </p:spPr>
        <p:txBody>
          <a:bodyPr>
            <a:normAutofit fontScale="90000"/>
          </a:bodyPr>
          <a:lstStyle/>
          <a:p>
            <a:r>
              <a:rPr lang="uk-UA" dirty="0" smtClean="0"/>
              <a:t>Дії в процесі конструювання</a:t>
            </a:r>
            <a:endParaRPr lang="uk-UA" dirty="0"/>
          </a:p>
        </p:txBody>
      </p:sp>
      <p:sp>
        <p:nvSpPr>
          <p:cNvPr id="3" name="Текст 2"/>
          <p:cNvSpPr>
            <a:spLocks noGrp="1"/>
          </p:cNvSpPr>
          <p:nvPr>
            <p:ph type="body" idx="1"/>
          </p:nvPr>
        </p:nvSpPr>
        <p:spPr>
          <a:xfrm>
            <a:off x="1295401" y="1511559"/>
            <a:ext cx="9609668" cy="4126222"/>
          </a:xfrm>
        </p:spPr>
        <p:txBody>
          <a:bodyPr>
            <a:normAutofit fontScale="92500" lnSpcReduction="20000"/>
          </a:bodyPr>
          <a:lstStyle/>
          <a:p>
            <a:r>
              <a:rPr lang="uk-UA" dirty="0" smtClean="0"/>
              <a:t>Функціональна декомпозиція вирішуваного завдання для визначення архітектура системи для задачі. </a:t>
            </a:r>
            <a:endParaRPr lang="uk-UA" dirty="0"/>
          </a:p>
          <a:p>
            <a:r>
              <a:rPr lang="uk-UA" dirty="0"/>
              <a:t>Зовнішнє проектування </a:t>
            </a:r>
            <a:r>
              <a:rPr lang="uk-UA" dirty="0" smtClean="0"/>
              <a:t>ПЗ  визнача</a:t>
            </a:r>
            <a:r>
              <a:rPr lang="uk-UA" dirty="0"/>
              <a:t>є</a:t>
            </a:r>
            <a:r>
              <a:rPr lang="uk-UA" dirty="0" smtClean="0"/>
              <a:t> форми зовнішньої </a:t>
            </a:r>
            <a:r>
              <a:rPr lang="uk-UA" dirty="0"/>
              <a:t>взаємодії </a:t>
            </a:r>
            <a:r>
              <a:rPr lang="uk-UA" dirty="0" smtClean="0"/>
              <a:t>з </a:t>
            </a:r>
            <a:r>
              <a:rPr lang="uk-UA" dirty="0"/>
              <a:t>користувачем </a:t>
            </a:r>
            <a:r>
              <a:rPr lang="uk-UA" dirty="0" smtClean="0"/>
              <a:t>.</a:t>
            </a:r>
            <a:endParaRPr lang="uk-UA" dirty="0"/>
          </a:p>
          <a:p>
            <a:r>
              <a:rPr lang="uk-UA" dirty="0"/>
              <a:t>Проектування бази даних , </a:t>
            </a:r>
            <a:r>
              <a:rPr lang="uk-UA" dirty="0" smtClean="0"/>
              <a:t>якщо </a:t>
            </a:r>
            <a:r>
              <a:rPr lang="uk-UA" dirty="0"/>
              <a:t>це необхідно; </a:t>
            </a:r>
          </a:p>
          <a:p>
            <a:r>
              <a:rPr lang="uk-UA" dirty="0"/>
              <a:t>Проектування архітектури </a:t>
            </a:r>
            <a:r>
              <a:rPr lang="uk-UA" dirty="0" smtClean="0"/>
              <a:t>ПЗ - визначення об'єктів </a:t>
            </a:r>
            <a:r>
              <a:rPr lang="uk-UA" dirty="0"/>
              <a:t>або модулів, </a:t>
            </a:r>
          </a:p>
          <a:p>
            <a:r>
              <a:rPr lang="uk-UA" dirty="0"/>
              <a:t>функціонально пов'язаних з розв'язуваної завданням, </a:t>
            </a:r>
            <a:r>
              <a:rPr lang="uk-UA" dirty="0" smtClean="0"/>
              <a:t>сполучення між </a:t>
            </a:r>
            <a:r>
              <a:rPr lang="uk-UA" dirty="0"/>
              <a:t>ними та вимоги до них. </a:t>
            </a:r>
          </a:p>
          <a:p>
            <a:r>
              <a:rPr lang="uk-UA" dirty="0"/>
              <a:t>Конструювання </a:t>
            </a:r>
            <a:r>
              <a:rPr lang="uk-UA" dirty="0" smtClean="0"/>
              <a:t>- </a:t>
            </a:r>
            <a:r>
              <a:rPr lang="uk-UA" dirty="0"/>
              <a:t>зазвичай </a:t>
            </a:r>
            <a:r>
              <a:rPr lang="uk-UA" dirty="0" smtClean="0"/>
              <a:t>30-80</a:t>
            </a:r>
            <a:r>
              <a:rPr lang="uk-UA" dirty="0"/>
              <a:t>% загального часу </a:t>
            </a:r>
            <a:r>
              <a:rPr lang="uk-UA" dirty="0" smtClean="0"/>
              <a:t>роботи над </a:t>
            </a:r>
            <a:r>
              <a:rPr lang="uk-UA" dirty="0" err="1" smtClean="0"/>
              <a:t>проэктом</a:t>
            </a:r>
            <a:r>
              <a:rPr lang="uk-UA" dirty="0" smtClean="0"/>
              <a:t>. </a:t>
            </a:r>
          </a:p>
          <a:p>
            <a:r>
              <a:rPr lang="uk-UA" dirty="0" smtClean="0"/>
              <a:t>Конструювання центральне місце в процесі розробки ПЗ. </a:t>
            </a:r>
          </a:p>
          <a:p>
            <a:r>
              <a:rPr lang="uk-UA" dirty="0" smtClean="0"/>
              <a:t>Вимоги до додатка і його архітектура розробляються </a:t>
            </a:r>
            <a:r>
              <a:rPr lang="uk-UA" dirty="0"/>
              <a:t>до етапу конструювання, щоб гарантувати його ефективність. </a:t>
            </a:r>
          </a:p>
          <a:p>
            <a:r>
              <a:rPr lang="uk-UA" dirty="0"/>
              <a:t>Тестування системи (у строгому сенсі) виконується після конструювання і служить </a:t>
            </a:r>
          </a:p>
          <a:p>
            <a:r>
              <a:rPr lang="uk-UA" dirty="0"/>
              <a:t>для перевірки його правильності. </a:t>
            </a:r>
          </a:p>
        </p:txBody>
      </p:sp>
    </p:spTree>
    <p:extLst>
      <p:ext uri="{BB962C8B-B14F-4D97-AF65-F5344CB8AC3E}">
        <p14:creationId xmlns:p14="http://schemas.microsoft.com/office/powerpoint/2010/main" val="3712865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751648"/>
            <a:ext cx="9609668" cy="552219"/>
          </a:xfrm>
        </p:spPr>
        <p:txBody>
          <a:bodyPr>
            <a:normAutofit fontScale="90000"/>
          </a:bodyPr>
          <a:lstStyle/>
          <a:p>
            <a:r>
              <a:rPr lang="uk-UA" dirty="0"/>
              <a:t>Область знань «Конструювання ПЗ (</a:t>
            </a:r>
            <a:r>
              <a:rPr lang="uk-UA" dirty="0" err="1"/>
              <a:t>Software</a:t>
            </a:r>
            <a:r>
              <a:rPr lang="uk-UA" dirty="0"/>
              <a:t> </a:t>
            </a:r>
            <a:r>
              <a:rPr lang="uk-UA" dirty="0" err="1"/>
              <a:t>Construction</a:t>
            </a:r>
            <a:r>
              <a:rPr lang="uk-UA" dirty="0"/>
              <a:t>)» </a:t>
            </a:r>
          </a:p>
        </p:txBody>
      </p:sp>
      <p:sp>
        <p:nvSpPr>
          <p:cNvPr id="3" name="Текст 2"/>
          <p:cNvSpPr>
            <a:spLocks noGrp="1"/>
          </p:cNvSpPr>
          <p:nvPr>
            <p:ph type="body" idx="1"/>
          </p:nvPr>
        </p:nvSpPr>
        <p:spPr>
          <a:xfrm>
            <a:off x="1295401" y="1507067"/>
            <a:ext cx="9609668" cy="4130714"/>
          </a:xfrm>
        </p:spPr>
        <p:txBody>
          <a:bodyPr/>
          <a:lstStyle/>
          <a:p>
            <a:r>
              <a:rPr lang="uk-UA" sz="3200" dirty="0" smtClean="0"/>
              <a:t>– </a:t>
            </a:r>
            <a:r>
              <a:rPr lang="uk-UA" sz="3200" dirty="0"/>
              <a:t>зниження складності (</a:t>
            </a:r>
            <a:r>
              <a:rPr lang="uk-UA" sz="3200" dirty="0" err="1"/>
              <a:t>Reduction</a:t>
            </a:r>
            <a:r>
              <a:rPr lang="uk-UA" sz="3200" dirty="0"/>
              <a:t> </a:t>
            </a:r>
            <a:r>
              <a:rPr lang="uk-UA" sz="3200" dirty="0" err="1"/>
              <a:t>in</a:t>
            </a:r>
            <a:r>
              <a:rPr lang="uk-UA" sz="3200" dirty="0"/>
              <a:t> </a:t>
            </a:r>
            <a:r>
              <a:rPr lang="uk-UA" sz="3200" dirty="0" err="1"/>
              <a:t>Complexity</a:t>
            </a:r>
            <a:r>
              <a:rPr lang="uk-UA" sz="3200" dirty="0"/>
              <a:t>), </a:t>
            </a:r>
          </a:p>
          <a:p>
            <a:r>
              <a:rPr lang="uk-UA" sz="3200" dirty="0"/>
              <a:t>– попередження відхилень від стилю (</a:t>
            </a:r>
            <a:r>
              <a:rPr lang="uk-UA" sz="3200" dirty="0" err="1"/>
              <a:t>Anticipation</a:t>
            </a:r>
            <a:r>
              <a:rPr lang="uk-UA" sz="3200" dirty="0"/>
              <a:t> </a:t>
            </a:r>
            <a:r>
              <a:rPr lang="uk-UA" sz="3200" dirty="0" err="1"/>
              <a:t>of</a:t>
            </a:r>
            <a:r>
              <a:rPr lang="uk-UA" sz="3200" dirty="0"/>
              <a:t> </a:t>
            </a:r>
            <a:r>
              <a:rPr lang="uk-UA" sz="3200" dirty="0" err="1"/>
              <a:t>Diversity</a:t>
            </a:r>
            <a:r>
              <a:rPr lang="uk-UA" sz="3200" dirty="0"/>
              <a:t>), </a:t>
            </a:r>
          </a:p>
          <a:p>
            <a:r>
              <a:rPr lang="uk-UA" sz="3200" dirty="0"/>
              <a:t>– структуризація перевірок (</a:t>
            </a:r>
            <a:r>
              <a:rPr lang="uk-UA" sz="3200" dirty="0" err="1"/>
              <a:t>Structuring</a:t>
            </a:r>
            <a:r>
              <a:rPr lang="uk-UA" sz="3200" dirty="0"/>
              <a:t> </a:t>
            </a:r>
            <a:r>
              <a:rPr lang="uk-UA" sz="3200" dirty="0" err="1"/>
              <a:t>for</a:t>
            </a:r>
            <a:r>
              <a:rPr lang="uk-UA" sz="3200" dirty="0"/>
              <a:t> </a:t>
            </a:r>
            <a:r>
              <a:rPr lang="uk-UA" sz="3200" dirty="0" err="1"/>
              <a:t>Validation</a:t>
            </a:r>
            <a:r>
              <a:rPr lang="uk-UA" sz="3200" dirty="0"/>
              <a:t>), </a:t>
            </a:r>
          </a:p>
          <a:p>
            <a:r>
              <a:rPr lang="uk-UA" sz="3200" dirty="0"/>
              <a:t>– використання стандартів (</a:t>
            </a:r>
            <a:r>
              <a:rPr lang="uk-UA" sz="3200" dirty="0" err="1"/>
              <a:t>Use</a:t>
            </a:r>
            <a:r>
              <a:rPr lang="uk-UA" sz="3200" dirty="0"/>
              <a:t> </a:t>
            </a:r>
            <a:r>
              <a:rPr lang="uk-UA" sz="3200" dirty="0" err="1"/>
              <a:t>of</a:t>
            </a:r>
            <a:r>
              <a:rPr lang="uk-UA" sz="3200" dirty="0"/>
              <a:t> </a:t>
            </a:r>
            <a:r>
              <a:rPr lang="uk-UA" sz="3200" dirty="0" err="1"/>
              <a:t>External</a:t>
            </a:r>
            <a:r>
              <a:rPr lang="uk-UA" sz="3200" dirty="0"/>
              <a:t> </a:t>
            </a:r>
            <a:r>
              <a:rPr lang="uk-UA" sz="3200" dirty="0" err="1"/>
              <a:t>Standards</a:t>
            </a:r>
            <a:r>
              <a:rPr lang="uk-UA" sz="3200" dirty="0"/>
              <a:t>).</a:t>
            </a:r>
          </a:p>
          <a:p>
            <a:endParaRPr lang="uk-UA" dirty="0"/>
          </a:p>
        </p:txBody>
      </p:sp>
    </p:spTree>
    <p:extLst>
      <p:ext uri="{BB962C8B-B14F-4D97-AF65-F5344CB8AC3E}">
        <p14:creationId xmlns:p14="http://schemas.microsoft.com/office/powerpoint/2010/main" val="3769566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47802" y="777048"/>
            <a:ext cx="9609668" cy="535285"/>
          </a:xfrm>
        </p:spPr>
        <p:txBody>
          <a:bodyPr>
            <a:normAutofit fontScale="90000"/>
          </a:bodyPr>
          <a:lstStyle/>
          <a:p>
            <a:r>
              <a:rPr lang="uk-UA" b="1" dirty="0"/>
              <a:t>Конструювання серед процесів побудови ПЗ</a:t>
            </a:r>
            <a:endParaRPr lang="uk-UA" dirty="0"/>
          </a:p>
        </p:txBody>
      </p:sp>
      <p:sp>
        <p:nvSpPr>
          <p:cNvPr id="3" name="Текст 2"/>
          <p:cNvSpPr>
            <a:spLocks noGrp="1"/>
          </p:cNvSpPr>
          <p:nvPr>
            <p:ph type="body" idx="1"/>
          </p:nvPr>
        </p:nvSpPr>
        <p:spPr>
          <a:xfrm>
            <a:off x="1295400" y="1447800"/>
            <a:ext cx="9762069" cy="4189981"/>
          </a:xfrm>
        </p:spPr>
        <p:txBody>
          <a:bodyPr/>
          <a:lstStyle/>
          <a:p>
            <a:r>
              <a:rPr lang="uk-UA" dirty="0" smtClean="0"/>
              <a:t>	</a:t>
            </a:r>
            <a:endParaRPr lang="uk-UA" dirty="0"/>
          </a:p>
        </p:txBody>
      </p:sp>
      <p:pic>
        <p:nvPicPr>
          <p:cNvPr id="4" name="Рисунок 3"/>
          <p:cNvPicPr/>
          <p:nvPr/>
        </p:nvPicPr>
        <p:blipFill rotWithShape="1">
          <a:blip r:embed="rId2" cstate="print"/>
          <a:srcRect l="32390" t="21286" r="10181" b="21374"/>
          <a:stretch/>
        </p:blipFill>
        <p:spPr bwMode="auto">
          <a:xfrm>
            <a:off x="3209925" y="1267777"/>
            <a:ext cx="5772150" cy="432244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95837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785515"/>
            <a:ext cx="9609668" cy="399818"/>
          </a:xfrm>
        </p:spPr>
        <p:txBody>
          <a:bodyPr>
            <a:normAutofit fontScale="90000"/>
          </a:bodyPr>
          <a:lstStyle/>
          <a:p>
            <a:r>
              <a:rPr lang="uk-UA" b="1" dirty="0"/>
              <a:t>Моделі конструювання програмного забезпечення</a:t>
            </a:r>
            <a:endParaRPr lang="uk-UA" dirty="0"/>
          </a:p>
        </p:txBody>
      </p:sp>
      <p:sp>
        <p:nvSpPr>
          <p:cNvPr id="3" name="Текст 2"/>
          <p:cNvSpPr>
            <a:spLocks noGrp="1"/>
          </p:cNvSpPr>
          <p:nvPr>
            <p:ph type="body" idx="1"/>
          </p:nvPr>
        </p:nvSpPr>
        <p:spPr>
          <a:xfrm>
            <a:off x="1295401" y="1286933"/>
            <a:ext cx="9609668" cy="4665134"/>
          </a:xfrm>
        </p:spPr>
        <p:txBody>
          <a:bodyPr>
            <a:normAutofit fontScale="92500" lnSpcReduction="10000"/>
          </a:bodyPr>
          <a:lstStyle/>
          <a:p>
            <a:pPr indent="541338" algn="just"/>
            <a:r>
              <a:rPr lang="uk-UA" sz="2400" dirty="0" smtClean="0"/>
              <a:t>Моделі </a:t>
            </a:r>
            <a:r>
              <a:rPr lang="uk-UA" sz="2400" dirty="0"/>
              <a:t>конструювання визначаються стандартом життєвого циклу, який використовується, </a:t>
            </a:r>
            <a:r>
              <a:rPr lang="uk-UA" sz="2400" dirty="0" err="1"/>
              <a:t>методологіями</a:t>
            </a:r>
            <a:r>
              <a:rPr lang="uk-UA" sz="2400" dirty="0"/>
              <a:t> та практиками, що застосовуються</a:t>
            </a:r>
            <a:r>
              <a:rPr lang="uk-UA" sz="2400" dirty="0" smtClean="0"/>
              <a:t>.</a:t>
            </a:r>
          </a:p>
          <a:p>
            <a:pPr indent="541338" algn="just"/>
            <a:r>
              <a:rPr lang="uk-UA" sz="2400" dirty="0"/>
              <a:t>Деякі моделі являються більш лінійними з точки зору конструювання </a:t>
            </a:r>
            <a:r>
              <a:rPr lang="uk-UA" sz="2400" dirty="0" smtClean="0"/>
              <a:t>ПЗ, </a:t>
            </a:r>
            <a:r>
              <a:rPr lang="uk-UA" sz="2400" dirty="0"/>
              <a:t>наприклад, водоспадна (</a:t>
            </a:r>
            <a:r>
              <a:rPr lang="uk-UA" sz="2400" dirty="0" err="1"/>
              <a:t>waterfall</a:t>
            </a:r>
            <a:r>
              <a:rPr lang="uk-UA" sz="2400" dirty="0"/>
              <a:t>) та поетапна (</a:t>
            </a:r>
            <a:r>
              <a:rPr lang="uk-UA" sz="2400" dirty="0" err="1"/>
              <a:t>stage-delivery</a:t>
            </a:r>
            <a:r>
              <a:rPr lang="uk-UA" sz="2400" dirty="0"/>
              <a:t>) моделі життєвого циклу. Ці моделі розглядають конструювання як діяльність, яка починає проводитись лише після завершення певних обов’язкових до виконання (</a:t>
            </a:r>
            <a:r>
              <a:rPr lang="uk-UA" sz="2400" dirty="0" err="1"/>
              <a:t>prerequisite</a:t>
            </a:r>
            <a:r>
              <a:rPr lang="uk-UA" sz="2400" dirty="0"/>
              <a:t>) робіт, що включають детальний опис вимог, докладний дизайн та детальне </a:t>
            </a:r>
            <a:r>
              <a:rPr lang="uk-UA" sz="2400" dirty="0" smtClean="0"/>
              <a:t>планування</a:t>
            </a:r>
          </a:p>
          <a:p>
            <a:pPr indent="541338" algn="just"/>
            <a:r>
              <a:rPr lang="uk-UA" sz="2400" dirty="0"/>
              <a:t>Інші моделі більш ітеративні, до них відносяться еволюційне </a:t>
            </a:r>
            <a:r>
              <a:rPr lang="uk-UA" sz="2400" dirty="0" err="1"/>
              <a:t>прототипування</a:t>
            </a:r>
            <a:r>
              <a:rPr lang="uk-UA" sz="2400" dirty="0"/>
              <a:t>, екстремальне програмування і </a:t>
            </a:r>
            <a:r>
              <a:rPr lang="uk-UA" sz="2400" dirty="0" err="1"/>
              <a:t>Scrum</a:t>
            </a:r>
            <a:r>
              <a:rPr lang="uk-UA" sz="2400" dirty="0"/>
              <a:t>. Ці підходи сходяться до розгляду конструювання як діяльності, що ведеться одночасно з іншими видами робіт по створенню ПЗ та пересікається з ними, включаючи визначення вимог, проектування і планування. </a:t>
            </a:r>
            <a:endParaRPr lang="uk-UA" sz="2400" dirty="0" smtClean="0"/>
          </a:p>
          <a:p>
            <a:endParaRPr lang="uk-UA" dirty="0"/>
          </a:p>
        </p:txBody>
      </p:sp>
    </p:spTree>
    <p:extLst>
      <p:ext uri="{BB962C8B-B14F-4D97-AF65-F5344CB8AC3E}">
        <p14:creationId xmlns:p14="http://schemas.microsoft.com/office/powerpoint/2010/main" val="457688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39336" y="785515"/>
            <a:ext cx="9609668" cy="526818"/>
          </a:xfrm>
        </p:spPr>
        <p:txBody>
          <a:bodyPr>
            <a:normAutofit fontScale="90000"/>
          </a:bodyPr>
          <a:lstStyle/>
          <a:p>
            <a:pPr algn="ctr"/>
            <a:r>
              <a:rPr lang="uk-UA" b="1" dirty="0"/>
              <a:t>Стратегії конструювання ПЗ</a:t>
            </a:r>
            <a:endParaRPr lang="uk-UA" dirty="0"/>
          </a:p>
        </p:txBody>
      </p:sp>
      <p:sp>
        <p:nvSpPr>
          <p:cNvPr id="3" name="Текст 2"/>
          <p:cNvSpPr>
            <a:spLocks noGrp="1"/>
          </p:cNvSpPr>
          <p:nvPr>
            <p:ph type="body" idx="1"/>
          </p:nvPr>
        </p:nvSpPr>
        <p:spPr>
          <a:xfrm>
            <a:off x="1439336" y="1498600"/>
            <a:ext cx="9609668" cy="4402667"/>
          </a:xfrm>
        </p:spPr>
        <p:txBody>
          <a:bodyPr>
            <a:normAutofit/>
          </a:bodyPr>
          <a:lstStyle/>
          <a:p>
            <a:r>
              <a:rPr lang="uk-UA" sz="2400" dirty="0"/>
              <a:t>- </a:t>
            </a:r>
            <a:r>
              <a:rPr lang="uk-UA" sz="2400" i="1" dirty="0"/>
              <a:t>однократний прохід </a:t>
            </a:r>
            <a:r>
              <a:rPr lang="uk-UA" sz="2400" dirty="0"/>
              <a:t>(водоспадна стратегія) — лінійна послідовність етапів конструювання;</a:t>
            </a:r>
          </a:p>
          <a:p>
            <a:r>
              <a:rPr lang="uk-UA" sz="2400" dirty="0"/>
              <a:t>- </a:t>
            </a:r>
            <a:r>
              <a:rPr lang="uk-UA" sz="2400" i="1" dirty="0" err="1"/>
              <a:t>інкрементна</a:t>
            </a:r>
            <a:r>
              <a:rPr lang="uk-UA" sz="2400" i="1" dirty="0"/>
              <a:t> стратегія. </a:t>
            </a:r>
            <a:r>
              <a:rPr lang="uk-UA" sz="2400" dirty="0"/>
              <a:t>На початку процесу визначаються всі користувацькі та системні вимоги, решта конструювання виконується у вигляді послідовності версій. Перша версія реалізує частину запланованих можливостей, наступна версія реалізує додаткові можливості й т. д., поки не буде отримано повну систему;</a:t>
            </a:r>
          </a:p>
          <a:p>
            <a:r>
              <a:rPr lang="uk-UA" sz="2400" dirty="0"/>
              <a:t>- </a:t>
            </a:r>
            <a:r>
              <a:rPr lang="uk-UA" sz="2400" i="1" dirty="0"/>
              <a:t>еволюційна стратегія. </a:t>
            </a:r>
            <a:r>
              <a:rPr lang="uk-UA" sz="2400" dirty="0"/>
              <a:t>Система також будується у вигляді послідовності версій, але на початку процесу визначені не всі вимоги. Вони </a:t>
            </a:r>
            <a:r>
              <a:rPr lang="uk-UA" sz="2400" dirty="0" err="1"/>
              <a:t>уточнюються</a:t>
            </a:r>
            <a:r>
              <a:rPr lang="uk-UA" sz="2400" dirty="0"/>
              <a:t> в результаті розробки версій.</a:t>
            </a:r>
            <a:endParaRPr lang="uk-UA" sz="2400" dirty="0"/>
          </a:p>
        </p:txBody>
      </p:sp>
    </p:spTree>
    <p:extLst>
      <p:ext uri="{BB962C8B-B14F-4D97-AF65-F5344CB8AC3E}">
        <p14:creationId xmlns:p14="http://schemas.microsoft.com/office/powerpoint/2010/main" val="1704435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726248"/>
            <a:ext cx="9609668" cy="603019"/>
          </a:xfrm>
        </p:spPr>
        <p:txBody>
          <a:bodyPr/>
          <a:lstStyle/>
          <a:p>
            <a:pPr algn="ctr"/>
            <a:r>
              <a:rPr lang="uk-UA" b="1" dirty="0"/>
              <a:t>Характеристики стратегій конструювання ПЗ</a:t>
            </a:r>
            <a:endParaRPr lang="uk-UA" b="1" dirty="0"/>
          </a:p>
        </p:txBody>
      </p:sp>
      <p:sp>
        <p:nvSpPr>
          <p:cNvPr id="3" name="Текст 2"/>
          <p:cNvSpPr>
            <a:spLocks noGrp="1"/>
          </p:cNvSpPr>
          <p:nvPr>
            <p:ph type="body" idx="1"/>
          </p:nvPr>
        </p:nvSpPr>
        <p:spPr>
          <a:xfrm>
            <a:off x="1295401" y="1532467"/>
            <a:ext cx="9609668" cy="4105314"/>
          </a:xfrm>
        </p:spPr>
        <p:txBody>
          <a:bodyPr/>
          <a:lstStyle/>
          <a:p>
            <a:endParaRPr lang="uk-UA" dirty="0"/>
          </a:p>
        </p:txBody>
      </p:sp>
      <p:graphicFrame>
        <p:nvGraphicFramePr>
          <p:cNvPr id="4" name="Таблица 3"/>
          <p:cNvGraphicFramePr>
            <a:graphicFrameLocks noGrp="1"/>
          </p:cNvGraphicFramePr>
          <p:nvPr>
            <p:extLst>
              <p:ext uri="{D42A27DB-BD31-4B8C-83A1-F6EECF244321}">
                <p14:modId xmlns:p14="http://schemas.microsoft.com/office/powerpoint/2010/main" val="1947001672"/>
              </p:ext>
            </p:extLst>
          </p:nvPr>
        </p:nvGraphicFramePr>
        <p:xfrm>
          <a:off x="1540934" y="1727200"/>
          <a:ext cx="9601199" cy="3828290"/>
        </p:xfrm>
        <a:graphic>
          <a:graphicData uri="http://schemas.openxmlformats.org/drawingml/2006/table">
            <a:tbl>
              <a:tblPr firstRow="1" firstCol="1" bandRow="1">
                <a:tableStyleId>{5C22544A-7EE6-4342-B048-85BDC9FD1C3A}</a:tableStyleId>
              </a:tblPr>
              <a:tblGrid>
                <a:gridCol w="3137181">
                  <a:extLst>
                    <a:ext uri="{9D8B030D-6E8A-4147-A177-3AD203B41FA5}">
                      <a16:colId xmlns:a16="http://schemas.microsoft.com/office/drawing/2014/main" val="4074313696"/>
                    </a:ext>
                  </a:extLst>
                </a:gridCol>
                <a:gridCol w="2096894">
                  <a:extLst>
                    <a:ext uri="{9D8B030D-6E8A-4147-A177-3AD203B41FA5}">
                      <a16:colId xmlns:a16="http://schemas.microsoft.com/office/drawing/2014/main" val="2163822758"/>
                    </a:ext>
                  </a:extLst>
                </a:gridCol>
                <a:gridCol w="2090335">
                  <a:extLst>
                    <a:ext uri="{9D8B030D-6E8A-4147-A177-3AD203B41FA5}">
                      <a16:colId xmlns:a16="http://schemas.microsoft.com/office/drawing/2014/main" val="2580608430"/>
                    </a:ext>
                  </a:extLst>
                </a:gridCol>
                <a:gridCol w="2276789">
                  <a:extLst>
                    <a:ext uri="{9D8B030D-6E8A-4147-A177-3AD203B41FA5}">
                      <a16:colId xmlns:a16="http://schemas.microsoft.com/office/drawing/2014/main" val="1430659892"/>
                    </a:ext>
                  </a:extLst>
                </a:gridCol>
              </a:tblGrid>
              <a:tr h="1692244">
                <a:tc>
                  <a:txBody>
                    <a:bodyPr/>
                    <a:lstStyle/>
                    <a:p>
                      <a:pPr algn="just">
                        <a:lnSpc>
                          <a:spcPct val="115000"/>
                        </a:lnSpc>
                        <a:spcAft>
                          <a:spcPts val="0"/>
                        </a:spcAft>
                      </a:pPr>
                      <a:r>
                        <a:rPr lang="uk-UA" sz="2000">
                          <a:effectLst/>
                        </a:rPr>
                        <a:t>Стратегія конструювання </a:t>
                      </a:r>
                      <a:endParaRPr lang="uk-UA"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indent="11430" algn="just">
                        <a:lnSpc>
                          <a:spcPct val="115000"/>
                        </a:lnSpc>
                        <a:spcAft>
                          <a:spcPts val="0"/>
                        </a:spcAft>
                      </a:pPr>
                      <a:r>
                        <a:rPr lang="uk-UA" sz="2000">
                          <a:effectLst/>
                        </a:rPr>
                        <a:t>Чи всі вимоги визначені на початку процесу? </a:t>
                      </a:r>
                      <a:endParaRPr lang="uk-UA"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0"/>
                        </a:spcAft>
                      </a:pPr>
                      <a:r>
                        <a:rPr lang="uk-UA" sz="2000">
                          <a:effectLst/>
                        </a:rPr>
                        <a:t>Декілька циклів конструювання? </a:t>
                      </a:r>
                      <a:endParaRPr lang="uk-UA"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indent="24130" algn="just">
                        <a:lnSpc>
                          <a:spcPct val="115000"/>
                        </a:lnSpc>
                        <a:spcAft>
                          <a:spcPts val="0"/>
                        </a:spcAft>
                      </a:pPr>
                      <a:r>
                        <a:rPr lang="uk-UA" sz="2000">
                          <a:effectLst/>
                        </a:rPr>
                        <a:t>Проміжне ПЗ розповсюджується? </a:t>
                      </a:r>
                      <a:endParaRPr lang="uk-UA"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26041444"/>
                  </a:ext>
                </a:extLst>
              </a:tr>
              <a:tr h="431950">
                <a:tc>
                  <a:txBody>
                    <a:bodyPr/>
                    <a:lstStyle/>
                    <a:p>
                      <a:pPr algn="just">
                        <a:lnSpc>
                          <a:spcPct val="115000"/>
                        </a:lnSpc>
                        <a:spcAft>
                          <a:spcPts val="0"/>
                        </a:spcAft>
                      </a:pPr>
                      <a:r>
                        <a:rPr lang="uk-UA" sz="2000">
                          <a:effectLst/>
                        </a:rPr>
                        <a:t>Однократний прохід </a:t>
                      </a:r>
                      <a:endParaRPr lang="uk-UA"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0"/>
                        </a:spcAft>
                      </a:pPr>
                      <a:r>
                        <a:rPr lang="uk-UA" sz="2000">
                          <a:effectLst/>
                        </a:rPr>
                        <a:t>Так </a:t>
                      </a:r>
                      <a:endParaRPr lang="uk-UA"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0"/>
                        </a:spcAft>
                      </a:pPr>
                      <a:r>
                        <a:rPr lang="uk-UA" sz="2000">
                          <a:effectLst/>
                        </a:rPr>
                        <a:t>Ні </a:t>
                      </a:r>
                      <a:endParaRPr lang="uk-UA"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0"/>
                        </a:spcAft>
                      </a:pPr>
                      <a:r>
                        <a:rPr lang="uk-UA" sz="2000">
                          <a:effectLst/>
                        </a:rPr>
                        <a:t>Ні </a:t>
                      </a:r>
                      <a:endParaRPr lang="uk-UA"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77420606"/>
                  </a:ext>
                </a:extLst>
              </a:tr>
              <a:tr h="1272146">
                <a:tc>
                  <a:txBody>
                    <a:bodyPr/>
                    <a:lstStyle/>
                    <a:p>
                      <a:pPr algn="just">
                        <a:lnSpc>
                          <a:spcPct val="115000"/>
                        </a:lnSpc>
                        <a:spcAft>
                          <a:spcPts val="0"/>
                        </a:spcAft>
                      </a:pPr>
                      <a:r>
                        <a:rPr lang="uk-UA" sz="2000">
                          <a:effectLst/>
                        </a:rPr>
                        <a:t>Інкрементна (заплановано покращення продукту) </a:t>
                      </a:r>
                      <a:endParaRPr lang="uk-UA"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0"/>
                        </a:spcAft>
                      </a:pPr>
                      <a:r>
                        <a:rPr lang="uk-UA" sz="2000">
                          <a:effectLst/>
                        </a:rPr>
                        <a:t>Так     </a:t>
                      </a:r>
                      <a:endParaRPr lang="uk-UA"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0"/>
                        </a:spcAft>
                      </a:pPr>
                      <a:r>
                        <a:rPr lang="uk-UA" sz="2000">
                          <a:effectLst/>
                        </a:rPr>
                        <a:t>Так   </a:t>
                      </a:r>
                      <a:endParaRPr lang="uk-UA"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0"/>
                        </a:spcAft>
                      </a:pPr>
                      <a:r>
                        <a:rPr lang="uk-UA" sz="2000">
                          <a:effectLst/>
                        </a:rPr>
                        <a:t>Може бути </a:t>
                      </a:r>
                      <a:endParaRPr lang="uk-UA"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00685457"/>
                  </a:ext>
                </a:extLst>
              </a:tr>
              <a:tr h="431950">
                <a:tc>
                  <a:txBody>
                    <a:bodyPr/>
                    <a:lstStyle/>
                    <a:p>
                      <a:pPr algn="just">
                        <a:lnSpc>
                          <a:spcPct val="115000"/>
                        </a:lnSpc>
                        <a:spcAft>
                          <a:spcPts val="0"/>
                        </a:spcAft>
                      </a:pPr>
                      <a:r>
                        <a:rPr lang="uk-UA" sz="2000">
                          <a:effectLst/>
                        </a:rPr>
                        <a:t>Еволюційна </a:t>
                      </a:r>
                      <a:endParaRPr lang="uk-UA"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0"/>
                        </a:spcAft>
                      </a:pPr>
                      <a:r>
                        <a:rPr lang="uk-UA" sz="2000">
                          <a:effectLst/>
                        </a:rPr>
                        <a:t>Ні </a:t>
                      </a:r>
                      <a:endParaRPr lang="uk-UA"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0"/>
                        </a:spcAft>
                      </a:pPr>
                      <a:r>
                        <a:rPr lang="uk-UA" sz="2000">
                          <a:effectLst/>
                        </a:rPr>
                        <a:t>Так </a:t>
                      </a:r>
                      <a:endParaRPr lang="uk-UA"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just">
                        <a:lnSpc>
                          <a:spcPct val="115000"/>
                        </a:lnSpc>
                        <a:spcAft>
                          <a:spcPts val="0"/>
                        </a:spcAft>
                      </a:pPr>
                      <a:r>
                        <a:rPr lang="uk-UA" sz="2000" dirty="0">
                          <a:effectLst/>
                        </a:rPr>
                        <a:t>Так </a:t>
                      </a:r>
                      <a:endParaRPr lang="uk-UA"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4563552"/>
                  </a:ext>
                </a:extLst>
              </a:tr>
            </a:tbl>
          </a:graphicData>
        </a:graphic>
      </p:graphicFrame>
    </p:spTree>
    <p:extLst>
      <p:ext uri="{BB962C8B-B14F-4D97-AF65-F5344CB8AC3E}">
        <p14:creationId xmlns:p14="http://schemas.microsoft.com/office/powerpoint/2010/main" val="943732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90135" y="709314"/>
            <a:ext cx="9609668" cy="476019"/>
          </a:xfrm>
        </p:spPr>
        <p:txBody>
          <a:bodyPr>
            <a:normAutofit fontScale="90000"/>
          </a:bodyPr>
          <a:lstStyle/>
          <a:p>
            <a:pPr algn="ctr"/>
            <a:r>
              <a:rPr lang="uk-UA" b="1" dirty="0"/>
              <a:t>Моделі систем</a:t>
            </a:r>
            <a:endParaRPr lang="uk-UA" dirty="0"/>
          </a:p>
        </p:txBody>
      </p:sp>
      <p:sp>
        <p:nvSpPr>
          <p:cNvPr id="3" name="Текст 2"/>
          <p:cNvSpPr>
            <a:spLocks noGrp="1"/>
          </p:cNvSpPr>
          <p:nvPr>
            <p:ph type="body" idx="1"/>
          </p:nvPr>
        </p:nvSpPr>
        <p:spPr>
          <a:xfrm>
            <a:off x="1490135" y="1337733"/>
            <a:ext cx="9609668" cy="4300048"/>
          </a:xfrm>
        </p:spPr>
        <p:txBody>
          <a:bodyPr/>
          <a:lstStyle/>
          <a:p>
            <a:r>
              <a:rPr lang="uk-UA" b="1" dirty="0"/>
              <a:t>Модель ПЗ </a:t>
            </a:r>
            <a:r>
              <a:rPr lang="uk-UA" dirty="0"/>
              <a:t>–</a:t>
            </a:r>
            <a:r>
              <a:rPr lang="uk-UA" b="1" dirty="0"/>
              <a:t> це формалізований опис системи ПЗ на певному рівні абстракції</a:t>
            </a:r>
            <a:r>
              <a:rPr lang="uk-UA" b="1" dirty="0" smtClean="0"/>
              <a:t>.</a:t>
            </a:r>
          </a:p>
          <a:p>
            <a:r>
              <a:rPr lang="uk-UA" b="1" dirty="0" smtClean="0"/>
              <a:t>Графічні </a:t>
            </a:r>
            <a:r>
              <a:rPr lang="uk-UA" b="1" dirty="0"/>
              <a:t>(візуальні) моделі –</a:t>
            </a:r>
            <a:r>
              <a:rPr lang="uk-UA" dirty="0"/>
              <a:t> це засоби для візуалізації, опису, проектування та документування архітектури системи. </a:t>
            </a:r>
            <a:r>
              <a:rPr lang="uk-UA" b="1" dirty="0"/>
              <a:t>Моделі є</a:t>
            </a:r>
            <a:r>
              <a:rPr lang="uk-UA" dirty="0"/>
              <a:t> основою взаємодії учасників проекту і гарантують коректність архітектури. </a:t>
            </a:r>
            <a:endParaRPr lang="uk-UA" dirty="0" smtClean="0"/>
          </a:p>
          <a:p>
            <a:r>
              <a:rPr lang="uk-UA" b="1" dirty="0"/>
              <a:t>Склад моделей,</a:t>
            </a:r>
            <a:r>
              <a:rPr lang="uk-UA" dirty="0"/>
              <a:t> використовуваних в кожному конкретному проекті, та ступінь їх деталізації в загальному випадку залежать </a:t>
            </a:r>
            <a:r>
              <a:rPr lang="uk-UA" b="1" dirty="0"/>
              <a:t>від наступних факторів:</a:t>
            </a:r>
            <a:endParaRPr lang="uk-UA" dirty="0"/>
          </a:p>
          <a:p>
            <a:pPr marL="896938"/>
            <a:r>
              <a:rPr lang="uk-UA" dirty="0"/>
              <a:t>- складності проектованої системи;</a:t>
            </a:r>
          </a:p>
          <a:p>
            <a:pPr marL="896938"/>
            <a:r>
              <a:rPr lang="uk-UA" dirty="0"/>
              <a:t>- необхідності повноти її опису;</a:t>
            </a:r>
          </a:p>
          <a:p>
            <a:pPr marL="896938"/>
            <a:r>
              <a:rPr lang="uk-UA" dirty="0"/>
              <a:t>- знань та навичок учасників проекту;</a:t>
            </a:r>
          </a:p>
          <a:p>
            <a:pPr marL="896938"/>
            <a:r>
              <a:rPr lang="uk-UA" dirty="0"/>
              <a:t>- часу, відведеного на проектування.</a:t>
            </a:r>
          </a:p>
          <a:p>
            <a:endParaRPr lang="uk-UA" dirty="0"/>
          </a:p>
        </p:txBody>
      </p:sp>
    </p:spTree>
    <p:extLst>
      <p:ext uri="{BB962C8B-B14F-4D97-AF65-F5344CB8AC3E}">
        <p14:creationId xmlns:p14="http://schemas.microsoft.com/office/powerpoint/2010/main" val="192294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26067" y="827848"/>
            <a:ext cx="10083802" cy="425219"/>
          </a:xfrm>
        </p:spPr>
        <p:txBody>
          <a:bodyPr>
            <a:normAutofit fontScale="90000"/>
          </a:bodyPr>
          <a:lstStyle/>
          <a:p>
            <a:pPr algn="ctr"/>
            <a:r>
              <a:rPr lang="uk-UA" b="1" dirty="0" smtClean="0"/>
              <a:t>Моделі при </a:t>
            </a:r>
            <a:r>
              <a:rPr lang="uk-UA" b="1" dirty="0"/>
              <a:t>структурному аналізі та проектуванні описують</a:t>
            </a:r>
            <a:endParaRPr lang="uk-UA" dirty="0"/>
          </a:p>
        </p:txBody>
      </p:sp>
      <p:sp>
        <p:nvSpPr>
          <p:cNvPr id="3" name="Текст 2"/>
          <p:cNvSpPr>
            <a:spLocks noGrp="1"/>
          </p:cNvSpPr>
          <p:nvPr>
            <p:ph type="body" idx="1"/>
          </p:nvPr>
        </p:nvSpPr>
        <p:spPr>
          <a:xfrm>
            <a:off x="1295401" y="1380067"/>
            <a:ext cx="9609668" cy="4257714"/>
          </a:xfrm>
        </p:spPr>
        <p:txBody>
          <a:bodyPr/>
          <a:lstStyle/>
          <a:p>
            <a:r>
              <a:rPr lang="uk-UA" sz="2400" dirty="0" smtClean="0"/>
              <a:t>- </a:t>
            </a:r>
            <a:r>
              <a:rPr lang="uk-UA" sz="2400" dirty="0"/>
              <a:t>функціональну структуру системи;</a:t>
            </a:r>
          </a:p>
          <a:p>
            <a:r>
              <a:rPr lang="uk-UA" sz="2400" dirty="0"/>
              <a:t>- послідовність виконуваних дій;</a:t>
            </a:r>
          </a:p>
          <a:p>
            <a:r>
              <a:rPr lang="uk-UA" sz="2400" dirty="0"/>
              <a:t>- передачу інформації між функціональними процесами;</a:t>
            </a:r>
          </a:p>
          <a:p>
            <a:r>
              <a:rPr lang="uk-UA" sz="2400" dirty="0"/>
              <a:t>- відношення між даними.</a:t>
            </a:r>
          </a:p>
          <a:p>
            <a:r>
              <a:rPr lang="uk-UA" sz="2400" b="1" dirty="0"/>
              <a:t>Найбільш </a:t>
            </a:r>
            <a:r>
              <a:rPr lang="uk-UA" sz="2400" b="1" dirty="0" smtClean="0"/>
              <a:t>поширені моделі :</a:t>
            </a:r>
            <a:endParaRPr lang="uk-UA" sz="2400" dirty="0"/>
          </a:p>
          <a:p>
            <a:r>
              <a:rPr lang="uk-UA" sz="2400" dirty="0"/>
              <a:t>- функціональна модель SADT (</a:t>
            </a:r>
            <a:r>
              <a:rPr lang="uk-UA" sz="2400" dirty="0" err="1"/>
              <a:t>Structured</a:t>
            </a:r>
            <a:r>
              <a:rPr lang="uk-UA" sz="2400" dirty="0"/>
              <a:t> </a:t>
            </a:r>
            <a:r>
              <a:rPr lang="uk-UA" sz="2400" dirty="0" err="1"/>
              <a:t>Analysis</a:t>
            </a:r>
            <a:r>
              <a:rPr lang="uk-UA" sz="2400" dirty="0"/>
              <a:t> </a:t>
            </a:r>
            <a:r>
              <a:rPr lang="uk-UA" sz="2400" dirty="0" err="1"/>
              <a:t>and</a:t>
            </a:r>
            <a:r>
              <a:rPr lang="uk-UA" sz="2400" dirty="0"/>
              <a:t> </a:t>
            </a:r>
            <a:r>
              <a:rPr lang="uk-UA" sz="2400" dirty="0" err="1"/>
              <a:t>Design</a:t>
            </a:r>
            <a:r>
              <a:rPr lang="uk-UA" sz="2400" dirty="0"/>
              <a:t> </a:t>
            </a:r>
            <a:r>
              <a:rPr lang="uk-UA" sz="2400" dirty="0" err="1"/>
              <a:t>Technique</a:t>
            </a:r>
            <a:r>
              <a:rPr lang="uk-UA" sz="2400" dirty="0"/>
              <a:t>);</a:t>
            </a:r>
          </a:p>
          <a:p>
            <a:r>
              <a:rPr lang="uk-UA" sz="2400" dirty="0"/>
              <a:t>- модель IDEF3;</a:t>
            </a:r>
          </a:p>
          <a:p>
            <a:r>
              <a:rPr lang="uk-UA" sz="2400" dirty="0"/>
              <a:t>- діаграми потоків даних DFD (</a:t>
            </a:r>
            <a:r>
              <a:rPr lang="uk-UA" sz="2400" dirty="0" err="1"/>
              <a:t>Data</a:t>
            </a:r>
            <a:r>
              <a:rPr lang="uk-UA" sz="2400" dirty="0"/>
              <a:t> </a:t>
            </a:r>
            <a:r>
              <a:rPr lang="uk-UA" sz="2400" dirty="0" err="1"/>
              <a:t>Flow</a:t>
            </a:r>
            <a:r>
              <a:rPr lang="uk-UA" sz="2400" dirty="0"/>
              <a:t> </a:t>
            </a:r>
            <a:r>
              <a:rPr lang="uk-UA" sz="2400" dirty="0" err="1"/>
              <a:t>Diagrams</a:t>
            </a:r>
            <a:r>
              <a:rPr lang="uk-UA" sz="2400" dirty="0"/>
              <a:t>).</a:t>
            </a:r>
          </a:p>
          <a:p>
            <a:endParaRPr lang="uk-UA" dirty="0"/>
          </a:p>
        </p:txBody>
      </p:sp>
    </p:spTree>
    <p:extLst>
      <p:ext uri="{BB962C8B-B14F-4D97-AF65-F5344CB8AC3E}">
        <p14:creationId xmlns:p14="http://schemas.microsoft.com/office/powerpoint/2010/main" val="3676523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743181"/>
            <a:ext cx="9609668" cy="518352"/>
          </a:xfrm>
        </p:spPr>
        <p:txBody>
          <a:bodyPr>
            <a:normAutofit fontScale="90000"/>
          </a:bodyPr>
          <a:lstStyle/>
          <a:p>
            <a:pPr algn="ctr"/>
            <a:r>
              <a:rPr lang="uk-UA" b="1" dirty="0"/>
              <a:t>Стандарт UML містить наступний набір діаграм</a:t>
            </a:r>
            <a:endParaRPr lang="uk-UA" dirty="0"/>
          </a:p>
        </p:txBody>
      </p:sp>
      <p:sp>
        <p:nvSpPr>
          <p:cNvPr id="3" name="Текст 2"/>
          <p:cNvSpPr>
            <a:spLocks noGrp="1"/>
          </p:cNvSpPr>
          <p:nvPr>
            <p:ph type="body" idx="1"/>
          </p:nvPr>
        </p:nvSpPr>
        <p:spPr>
          <a:xfrm>
            <a:off x="1295401" y="1422400"/>
            <a:ext cx="9609668" cy="4215381"/>
          </a:xfrm>
        </p:spPr>
        <p:txBody>
          <a:bodyPr>
            <a:normAutofit lnSpcReduction="10000"/>
          </a:bodyPr>
          <a:lstStyle/>
          <a:p>
            <a:r>
              <a:rPr lang="uk-UA" b="1" dirty="0"/>
              <a:t>1) структурні (</a:t>
            </a:r>
            <a:r>
              <a:rPr lang="uk-UA" b="1" dirty="0" err="1"/>
              <a:t>structural</a:t>
            </a:r>
            <a:r>
              <a:rPr lang="uk-UA" b="1" dirty="0"/>
              <a:t>) моделі:</a:t>
            </a:r>
            <a:endParaRPr lang="uk-UA" dirty="0"/>
          </a:p>
          <a:p>
            <a:r>
              <a:rPr lang="uk-UA" dirty="0"/>
              <a:t>- діаграми класів (</a:t>
            </a:r>
            <a:r>
              <a:rPr lang="uk-UA" dirty="0" err="1"/>
              <a:t>class</a:t>
            </a:r>
            <a:r>
              <a:rPr lang="uk-UA" dirty="0"/>
              <a:t> </a:t>
            </a:r>
            <a:r>
              <a:rPr lang="uk-UA" dirty="0" err="1"/>
              <a:t>diagrams</a:t>
            </a:r>
            <a:r>
              <a:rPr lang="uk-UA" dirty="0"/>
              <a:t>);</a:t>
            </a:r>
          </a:p>
          <a:p>
            <a:r>
              <a:rPr lang="uk-UA" dirty="0"/>
              <a:t>- діаграми компонентів (</a:t>
            </a:r>
            <a:r>
              <a:rPr lang="uk-UA" dirty="0" err="1"/>
              <a:t>component</a:t>
            </a:r>
            <a:r>
              <a:rPr lang="uk-UA" dirty="0"/>
              <a:t> </a:t>
            </a:r>
            <a:r>
              <a:rPr lang="uk-UA" dirty="0" err="1"/>
              <a:t>diagrams</a:t>
            </a:r>
            <a:r>
              <a:rPr lang="uk-UA" dirty="0"/>
              <a:t>);</a:t>
            </a:r>
          </a:p>
          <a:p>
            <a:r>
              <a:rPr lang="uk-UA" dirty="0"/>
              <a:t>- діаграми розташування (</a:t>
            </a:r>
            <a:r>
              <a:rPr lang="uk-UA" dirty="0" err="1"/>
              <a:t>deployment</a:t>
            </a:r>
            <a:r>
              <a:rPr lang="uk-UA" dirty="0"/>
              <a:t> </a:t>
            </a:r>
            <a:r>
              <a:rPr lang="uk-UA" dirty="0" err="1"/>
              <a:t>diagrams</a:t>
            </a:r>
            <a:r>
              <a:rPr lang="uk-UA" dirty="0"/>
              <a:t>);</a:t>
            </a:r>
          </a:p>
          <a:p>
            <a:r>
              <a:rPr lang="uk-UA" b="1" dirty="0"/>
              <a:t>2) поведінкові (</a:t>
            </a:r>
            <a:r>
              <a:rPr lang="uk-UA" b="1" dirty="0" err="1"/>
              <a:t>behavioral</a:t>
            </a:r>
            <a:r>
              <a:rPr lang="uk-UA" b="1" dirty="0"/>
              <a:t>) моделі:</a:t>
            </a:r>
            <a:endParaRPr lang="uk-UA" dirty="0"/>
          </a:p>
          <a:p>
            <a:r>
              <a:rPr lang="uk-UA" dirty="0"/>
              <a:t>- діаграми варіантів використання (</a:t>
            </a:r>
            <a:r>
              <a:rPr lang="uk-UA" dirty="0" err="1"/>
              <a:t>use</a:t>
            </a:r>
            <a:r>
              <a:rPr lang="uk-UA" dirty="0"/>
              <a:t> </a:t>
            </a:r>
            <a:r>
              <a:rPr lang="uk-UA" dirty="0" err="1"/>
              <a:t>case</a:t>
            </a:r>
            <a:r>
              <a:rPr lang="uk-UA" dirty="0"/>
              <a:t> </a:t>
            </a:r>
            <a:r>
              <a:rPr lang="uk-UA" dirty="0" err="1"/>
              <a:t>diagrams</a:t>
            </a:r>
            <a:r>
              <a:rPr lang="uk-UA" dirty="0"/>
              <a:t>);</a:t>
            </a:r>
          </a:p>
          <a:p>
            <a:r>
              <a:rPr lang="uk-UA" dirty="0"/>
              <a:t>- діаграми взаємодії (</a:t>
            </a:r>
            <a:r>
              <a:rPr lang="uk-UA" dirty="0" err="1"/>
              <a:t>interaction</a:t>
            </a:r>
            <a:r>
              <a:rPr lang="uk-UA" dirty="0"/>
              <a:t> </a:t>
            </a:r>
            <a:r>
              <a:rPr lang="uk-UA" dirty="0" err="1"/>
              <a:t>diagrams</a:t>
            </a:r>
            <a:r>
              <a:rPr lang="uk-UA" dirty="0"/>
              <a:t>): діаграми послідовності (</a:t>
            </a:r>
            <a:r>
              <a:rPr lang="uk-UA" dirty="0" err="1"/>
              <a:t>sequence</a:t>
            </a:r>
            <a:r>
              <a:rPr lang="uk-UA" dirty="0"/>
              <a:t> </a:t>
            </a:r>
            <a:r>
              <a:rPr lang="uk-UA" dirty="0" err="1"/>
              <a:t>diagrams</a:t>
            </a:r>
            <a:r>
              <a:rPr lang="uk-UA" dirty="0"/>
              <a:t>) та кооперативні діаграми (</a:t>
            </a:r>
            <a:r>
              <a:rPr lang="uk-UA" dirty="0" err="1"/>
              <a:t>collaboration</a:t>
            </a:r>
            <a:r>
              <a:rPr lang="uk-UA" dirty="0"/>
              <a:t> </a:t>
            </a:r>
            <a:r>
              <a:rPr lang="uk-UA" dirty="0" err="1"/>
              <a:t>diagrams</a:t>
            </a:r>
            <a:r>
              <a:rPr lang="uk-UA" dirty="0"/>
              <a:t>);</a:t>
            </a:r>
          </a:p>
          <a:p>
            <a:r>
              <a:rPr lang="uk-UA" dirty="0"/>
              <a:t>- діаграми станів (</a:t>
            </a:r>
            <a:r>
              <a:rPr lang="uk-UA" dirty="0" err="1"/>
              <a:t>statechart</a:t>
            </a:r>
            <a:r>
              <a:rPr lang="uk-UA" dirty="0"/>
              <a:t> </a:t>
            </a:r>
            <a:r>
              <a:rPr lang="uk-UA" dirty="0" err="1"/>
              <a:t>diagrams</a:t>
            </a:r>
            <a:r>
              <a:rPr lang="uk-UA" dirty="0"/>
              <a:t>);</a:t>
            </a:r>
          </a:p>
          <a:p>
            <a:r>
              <a:rPr lang="uk-UA" dirty="0"/>
              <a:t>- діаграми діяльності (</a:t>
            </a:r>
            <a:r>
              <a:rPr lang="uk-UA" dirty="0" err="1"/>
              <a:t>activity</a:t>
            </a:r>
            <a:r>
              <a:rPr lang="uk-UA" dirty="0"/>
              <a:t> </a:t>
            </a:r>
            <a:r>
              <a:rPr lang="uk-UA" dirty="0" err="1"/>
              <a:t>diagrams</a:t>
            </a:r>
            <a:r>
              <a:rPr lang="uk-UA" dirty="0"/>
              <a:t>).</a:t>
            </a:r>
          </a:p>
          <a:p>
            <a:endParaRPr lang="uk-UA" dirty="0"/>
          </a:p>
        </p:txBody>
      </p:sp>
    </p:spTree>
    <p:extLst>
      <p:ext uri="{BB962C8B-B14F-4D97-AF65-F5344CB8AC3E}">
        <p14:creationId xmlns:p14="http://schemas.microsoft.com/office/powerpoint/2010/main" val="4271400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700848"/>
            <a:ext cx="10236199" cy="484485"/>
          </a:xfrm>
        </p:spPr>
        <p:txBody>
          <a:bodyPr>
            <a:noAutofit/>
          </a:bodyPr>
          <a:lstStyle/>
          <a:p>
            <a:r>
              <a:rPr lang="uk-UA" sz="2400" b="1" dirty="0"/>
              <a:t>Фундаментальні основи конструювання програмного забезпечення</a:t>
            </a:r>
            <a:endParaRPr lang="uk-UA" sz="2400" dirty="0"/>
          </a:p>
        </p:txBody>
      </p:sp>
      <p:sp>
        <p:nvSpPr>
          <p:cNvPr id="3" name="Текст 2"/>
          <p:cNvSpPr>
            <a:spLocks noGrp="1"/>
          </p:cNvSpPr>
          <p:nvPr>
            <p:ph type="body" idx="1"/>
          </p:nvPr>
        </p:nvSpPr>
        <p:spPr>
          <a:xfrm>
            <a:off x="1295401" y="1295400"/>
            <a:ext cx="9609668" cy="4342381"/>
          </a:xfrm>
        </p:spPr>
        <p:txBody>
          <a:bodyPr/>
          <a:lstStyle/>
          <a:p>
            <a:endParaRPr lang="uk-UA" dirty="0"/>
          </a:p>
        </p:txBody>
      </p:sp>
      <p:pic>
        <p:nvPicPr>
          <p:cNvPr id="4" name="Рисунок 3"/>
          <p:cNvPicPr/>
          <p:nvPr/>
        </p:nvPicPr>
        <p:blipFill rotWithShape="1">
          <a:blip r:embed="rId2" cstate="print"/>
          <a:srcRect l="49849" t="30475" r="11215" b="23736"/>
          <a:stretch/>
        </p:blipFill>
        <p:spPr bwMode="auto">
          <a:xfrm>
            <a:off x="3048000" y="1354666"/>
            <a:ext cx="6096000" cy="476292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0056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717781"/>
            <a:ext cx="9609668" cy="416752"/>
          </a:xfrm>
        </p:spPr>
        <p:txBody>
          <a:bodyPr>
            <a:normAutofit fontScale="90000"/>
          </a:bodyPr>
          <a:lstStyle/>
          <a:p>
            <a:r>
              <a:rPr lang="uk-UA" b="1" dirty="0"/>
              <a:t>Фундаментальні </a:t>
            </a:r>
            <a:r>
              <a:rPr lang="uk-UA" b="1" i="1" dirty="0"/>
              <a:t>основи </a:t>
            </a:r>
            <a:r>
              <a:rPr lang="uk-UA" b="1" i="1" dirty="0" smtClean="0"/>
              <a:t>конструювання ПЗ</a:t>
            </a:r>
            <a:endParaRPr lang="uk-UA" dirty="0"/>
          </a:p>
        </p:txBody>
      </p:sp>
      <p:sp>
        <p:nvSpPr>
          <p:cNvPr id="3" name="Текст 2"/>
          <p:cNvSpPr>
            <a:spLocks noGrp="1"/>
          </p:cNvSpPr>
          <p:nvPr>
            <p:ph type="body" idx="1"/>
          </p:nvPr>
        </p:nvSpPr>
        <p:spPr>
          <a:xfrm>
            <a:off x="859368" y="1032933"/>
            <a:ext cx="10481733" cy="5223934"/>
          </a:xfrm>
        </p:spPr>
        <p:txBody>
          <a:bodyPr>
            <a:noAutofit/>
          </a:bodyPr>
          <a:lstStyle/>
          <a:p>
            <a:pPr lvl="0"/>
            <a:r>
              <a:rPr lang="uk-UA" sz="1600" u="sng" dirty="0"/>
              <a:t>Мінімізація </a:t>
            </a:r>
            <a:r>
              <a:rPr lang="uk-UA" sz="1600" u="sng" dirty="0" smtClean="0"/>
              <a:t>складності </a:t>
            </a:r>
            <a:r>
              <a:rPr lang="uk-UA" sz="1600" dirty="0" smtClean="0"/>
              <a:t>-  </a:t>
            </a:r>
            <a:r>
              <a:rPr lang="uk-UA" sz="1600" dirty="0"/>
              <a:t>використання у процесі конструювання простих елементів, </a:t>
            </a:r>
            <a:r>
              <a:rPr lang="uk-UA" sz="1600" dirty="0" smtClean="0"/>
              <a:t>рекомендацій стандартів, створення </a:t>
            </a:r>
            <a:r>
              <a:rPr lang="uk-UA" sz="1600" dirty="0"/>
              <a:t>простого коду, що легко </a:t>
            </a:r>
            <a:r>
              <a:rPr lang="uk-UA" sz="1600" dirty="0" err="1"/>
              <a:t>читається</a:t>
            </a:r>
            <a:r>
              <a:rPr lang="uk-UA" sz="1600" dirty="0"/>
              <a:t> і спрощує тестування, використання низки специфічних технік кодування і підтримкою практик, спрямованих на забезпечення якості в конструюванні. </a:t>
            </a:r>
          </a:p>
          <a:p>
            <a:pPr lvl="0"/>
            <a:r>
              <a:rPr lang="uk-UA" sz="1600" u="sng" dirty="0"/>
              <a:t>Очікування </a:t>
            </a:r>
            <a:r>
              <a:rPr lang="uk-UA" sz="1600" u="sng" dirty="0" smtClean="0"/>
              <a:t>змін </a:t>
            </a:r>
            <a:r>
              <a:rPr lang="uk-UA" sz="1600" dirty="0" smtClean="0"/>
              <a:t> - програмні </a:t>
            </a:r>
            <a:r>
              <a:rPr lang="uk-UA" sz="1600" dirty="0"/>
              <a:t>системи є частиною середовища, що змінюється, і повинні змінюватися разом з </a:t>
            </a:r>
            <a:r>
              <a:rPr lang="uk-UA" sz="1600" dirty="0" smtClean="0"/>
              <a:t>нею. </a:t>
            </a:r>
            <a:r>
              <a:rPr lang="uk-UA" sz="1600" dirty="0"/>
              <a:t>Очікування змін підтримується рядом технік кодування.</a:t>
            </a:r>
            <a:endParaRPr lang="uk-UA" sz="1600" u="sng" dirty="0"/>
          </a:p>
          <a:p>
            <a:pPr lvl="0"/>
            <a:r>
              <a:rPr lang="uk-UA" sz="1600" u="sng" dirty="0"/>
              <a:t>Конструювання з можливістю </a:t>
            </a:r>
            <a:r>
              <a:rPr lang="uk-UA" sz="1600" u="sng" dirty="0" smtClean="0"/>
              <a:t>перевірки </a:t>
            </a:r>
            <a:r>
              <a:rPr lang="uk-UA" sz="1600" dirty="0" smtClean="0"/>
              <a:t>- побудова </a:t>
            </a:r>
            <a:r>
              <a:rPr lang="uk-UA" sz="1600" dirty="0"/>
              <a:t>програмних систем повинна вестися таким чином, щоб сама програмна система допомагала вести пошук причин збоїв, будучи прозорою для застосування різних методів перевірки</a:t>
            </a:r>
            <a:r>
              <a:rPr lang="uk-UA" sz="1600" dirty="0" smtClean="0"/>
              <a:t> </a:t>
            </a:r>
            <a:endParaRPr lang="uk-UA" sz="1600" dirty="0"/>
          </a:p>
          <a:p>
            <a:pPr lvl="0"/>
            <a:r>
              <a:rPr lang="uk-UA" sz="1600" u="sng" dirty="0"/>
              <a:t>Стандарти у </a:t>
            </a:r>
            <a:r>
              <a:rPr lang="uk-UA" sz="1600" u="sng" dirty="0" smtClean="0"/>
              <a:t>конструюванні </a:t>
            </a:r>
            <a:r>
              <a:rPr lang="uk-UA" sz="1600" dirty="0"/>
              <a:t>Комунікаційні методи (наприклад, стандарти форматів документів і оформлення вмісту)</a:t>
            </a:r>
          </a:p>
          <a:p>
            <a:pPr lvl="0"/>
            <a:r>
              <a:rPr lang="uk-UA" sz="1600" dirty="0"/>
              <a:t>Мови програмування і відповідні стилі кодування (наприклад, </a:t>
            </a:r>
            <a:r>
              <a:rPr lang="uk-UA" sz="1600" dirty="0" err="1"/>
              <a:t>Java</a:t>
            </a:r>
            <a:r>
              <a:rPr lang="uk-UA" sz="1600" dirty="0"/>
              <a:t> </a:t>
            </a:r>
            <a:r>
              <a:rPr lang="uk-UA" sz="1600" dirty="0" err="1"/>
              <a:t>Language</a:t>
            </a:r>
            <a:r>
              <a:rPr lang="uk-UA" sz="1600" dirty="0"/>
              <a:t> </a:t>
            </a:r>
            <a:r>
              <a:rPr lang="uk-UA" sz="1600" dirty="0" err="1"/>
              <a:t>Specification</a:t>
            </a:r>
            <a:r>
              <a:rPr lang="uk-UA" sz="1600" dirty="0"/>
              <a:t>, що є частиною стандартної документації JDK - </a:t>
            </a:r>
            <a:r>
              <a:rPr lang="uk-UA" sz="1600" dirty="0" err="1"/>
              <a:t>Java</a:t>
            </a:r>
            <a:r>
              <a:rPr lang="uk-UA" sz="1600" dirty="0"/>
              <a:t> </a:t>
            </a:r>
            <a:r>
              <a:rPr lang="uk-UA" sz="1600" dirty="0" err="1"/>
              <a:t>Development</a:t>
            </a:r>
            <a:r>
              <a:rPr lang="uk-UA" sz="1600" dirty="0"/>
              <a:t> </a:t>
            </a:r>
            <a:r>
              <a:rPr lang="uk-UA" sz="1600" dirty="0" err="1"/>
              <a:t>Kit</a:t>
            </a:r>
            <a:r>
              <a:rPr lang="uk-UA" sz="1600" dirty="0"/>
              <a:t> і </a:t>
            </a:r>
            <a:r>
              <a:rPr lang="uk-UA" sz="1600" dirty="0" err="1"/>
              <a:t>Java</a:t>
            </a:r>
            <a:r>
              <a:rPr lang="uk-UA" sz="1600" dirty="0"/>
              <a:t> </a:t>
            </a:r>
            <a:r>
              <a:rPr lang="uk-UA" sz="1600" dirty="0" err="1"/>
              <a:t>Style</a:t>
            </a:r>
            <a:r>
              <a:rPr lang="uk-UA" sz="1600" dirty="0"/>
              <a:t> </a:t>
            </a:r>
            <a:r>
              <a:rPr lang="uk-UA" sz="1600" dirty="0" err="1"/>
              <a:t>Guide</a:t>
            </a:r>
            <a:r>
              <a:rPr lang="uk-UA" sz="1600" dirty="0"/>
              <a:t>, що пропонує загальний стиль кодування для мови програмування </a:t>
            </a:r>
            <a:r>
              <a:rPr lang="uk-UA" sz="1600" dirty="0" err="1"/>
              <a:t>Java</a:t>
            </a:r>
            <a:r>
              <a:rPr lang="uk-UA" sz="1600" dirty="0"/>
              <a:t>)</a:t>
            </a:r>
          </a:p>
          <a:p>
            <a:pPr lvl="0"/>
            <a:r>
              <a:rPr lang="uk-UA" sz="1600" dirty="0"/>
              <a:t>Платформи (наприклад, стандарти програмних інтерфейсів для викликів функцій операційного середовища, такі як прикладні програмні інтерфейси платформи Windows - Win32 API, </a:t>
            </a:r>
            <a:r>
              <a:rPr lang="uk-UA" sz="1600" dirty="0" err="1"/>
              <a:t>Application</a:t>
            </a:r>
            <a:r>
              <a:rPr lang="uk-UA" sz="1600" dirty="0"/>
              <a:t> </a:t>
            </a:r>
            <a:r>
              <a:rPr lang="uk-UA" sz="1600" dirty="0" err="1"/>
              <a:t>Programming</a:t>
            </a:r>
            <a:r>
              <a:rPr lang="uk-UA" sz="1600" dirty="0"/>
              <a:t> </a:t>
            </a:r>
            <a:r>
              <a:rPr lang="uk-UA" sz="1600" dirty="0" err="1"/>
              <a:t>Interface</a:t>
            </a:r>
            <a:r>
              <a:rPr lang="uk-UA" sz="1600" dirty="0"/>
              <a:t> або .NET </a:t>
            </a:r>
            <a:r>
              <a:rPr lang="uk-UA" sz="1600" dirty="0" err="1"/>
              <a:t>Framework</a:t>
            </a:r>
            <a:r>
              <a:rPr lang="uk-UA" sz="1600" dirty="0"/>
              <a:t> SDK, </a:t>
            </a:r>
            <a:r>
              <a:rPr lang="uk-UA" sz="1600" dirty="0" err="1"/>
              <a:t>Software</a:t>
            </a:r>
            <a:r>
              <a:rPr lang="uk-UA" sz="1600" dirty="0"/>
              <a:t> </a:t>
            </a:r>
            <a:r>
              <a:rPr lang="uk-UA" sz="1600" dirty="0" err="1"/>
              <a:t>Development</a:t>
            </a:r>
            <a:r>
              <a:rPr lang="uk-UA" sz="1600" dirty="0"/>
              <a:t> </a:t>
            </a:r>
            <a:r>
              <a:rPr lang="uk-UA" sz="1600" dirty="0" err="1"/>
              <a:t>Kit</a:t>
            </a:r>
            <a:r>
              <a:rPr lang="uk-UA" sz="1600" dirty="0"/>
              <a:t>)</a:t>
            </a:r>
          </a:p>
          <a:p>
            <a:pPr lvl="0"/>
            <a:r>
              <a:rPr lang="uk-UA" sz="1600" dirty="0"/>
              <a:t>Інструменти </a:t>
            </a:r>
            <a:r>
              <a:rPr lang="uk-UA" sz="1600" dirty="0" smtClean="0"/>
              <a:t>(наприклад</a:t>
            </a:r>
            <a:r>
              <a:rPr lang="uk-UA" sz="1600" dirty="0"/>
              <a:t>, UML як один зі стандартів для визначення нотацій для </a:t>
            </a:r>
            <a:r>
              <a:rPr lang="uk-UA" sz="1600" dirty="0" smtClean="0"/>
              <a:t>діаграм).</a:t>
            </a:r>
            <a:endParaRPr lang="uk-UA" sz="1600" dirty="0"/>
          </a:p>
          <a:p>
            <a:pPr lvl="0"/>
            <a:r>
              <a:rPr lang="uk-UA" sz="1600" dirty="0"/>
              <a:t>Використання зовнішніх </a:t>
            </a:r>
            <a:r>
              <a:rPr lang="uk-UA" sz="1600" dirty="0" smtClean="0"/>
              <a:t>стандартів </a:t>
            </a:r>
            <a:endParaRPr lang="uk-UA" sz="1600" dirty="0"/>
          </a:p>
          <a:p>
            <a:r>
              <a:rPr lang="uk-UA" sz="1600" dirty="0"/>
              <a:t>Використання внутрішніх стандартів</a:t>
            </a:r>
            <a:endParaRPr lang="uk-UA" sz="1600" dirty="0"/>
          </a:p>
        </p:txBody>
      </p:sp>
    </p:spTree>
    <p:extLst>
      <p:ext uri="{BB962C8B-B14F-4D97-AF65-F5344CB8AC3E}">
        <p14:creationId xmlns:p14="http://schemas.microsoft.com/office/powerpoint/2010/main" val="183306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768581"/>
            <a:ext cx="9609668" cy="391352"/>
          </a:xfrm>
        </p:spPr>
        <p:txBody>
          <a:bodyPr>
            <a:normAutofit fontScale="90000"/>
          </a:bodyPr>
          <a:lstStyle/>
          <a:p>
            <a:pPr algn="ctr"/>
            <a:r>
              <a:rPr lang="uk-UA" b="1" dirty="0"/>
              <a:t>Управління конструюванням (</a:t>
            </a:r>
            <a:r>
              <a:rPr lang="ru-RU" b="1" dirty="0" err="1"/>
              <a:t>Managing</a:t>
            </a:r>
            <a:r>
              <a:rPr lang="ru-RU" b="1" dirty="0"/>
              <a:t> </a:t>
            </a:r>
            <a:r>
              <a:rPr lang="ru-RU" b="1" dirty="0" err="1"/>
              <a:t>Construction</a:t>
            </a:r>
            <a:r>
              <a:rPr lang="uk-UA" b="1" dirty="0"/>
              <a:t>)</a:t>
            </a:r>
            <a:endParaRPr lang="uk-UA" dirty="0"/>
          </a:p>
        </p:txBody>
      </p:sp>
      <p:sp>
        <p:nvSpPr>
          <p:cNvPr id="3" name="Текст 2"/>
          <p:cNvSpPr>
            <a:spLocks noGrp="1"/>
          </p:cNvSpPr>
          <p:nvPr>
            <p:ph type="body" idx="1"/>
          </p:nvPr>
        </p:nvSpPr>
        <p:spPr>
          <a:xfrm>
            <a:off x="1295401" y="1159933"/>
            <a:ext cx="9609668" cy="4477848"/>
          </a:xfrm>
        </p:spPr>
        <p:txBody>
          <a:bodyPr/>
          <a:lstStyle/>
          <a:p>
            <a:r>
              <a:rPr lang="uk-UA" b="1" i="1" dirty="0"/>
              <a:t>Моделі конструювання</a:t>
            </a:r>
            <a:r>
              <a:rPr lang="uk-UA" b="1" dirty="0"/>
              <a:t> (</a:t>
            </a:r>
            <a:r>
              <a:rPr lang="ru-RU" b="1" dirty="0" err="1"/>
              <a:t>Construction</a:t>
            </a:r>
            <a:r>
              <a:rPr lang="ru-RU" b="1" dirty="0"/>
              <a:t> </a:t>
            </a:r>
            <a:r>
              <a:rPr lang="ru-RU" b="1" dirty="0" err="1"/>
              <a:t>Models</a:t>
            </a:r>
            <a:r>
              <a:rPr lang="uk-UA" b="1" dirty="0"/>
              <a:t>)</a:t>
            </a:r>
            <a:r>
              <a:rPr lang="uk-UA" dirty="0"/>
              <a:t> визначають комплекс операцій, які включають послідовність, результати (наприклад, вихідний код і відповідні </a:t>
            </a:r>
            <a:r>
              <a:rPr lang="uk-UA" dirty="0" err="1"/>
              <a:t>unit</a:t>
            </a:r>
            <a:r>
              <a:rPr lang="uk-UA" dirty="0"/>
              <a:t>-тести) та інші аспекти, пов'язані із загальним життєвим циклом розробки. У більшості випадків, моделі конструювання визначаються використовуваним стандартом життєвого циклу, застосовуваними </a:t>
            </a:r>
            <a:r>
              <a:rPr lang="uk-UA" dirty="0" err="1"/>
              <a:t>методологіями</a:t>
            </a:r>
            <a:r>
              <a:rPr lang="uk-UA" dirty="0"/>
              <a:t> і практиками</a:t>
            </a:r>
            <a:r>
              <a:rPr lang="uk-UA" dirty="0" smtClean="0"/>
              <a:t>.</a:t>
            </a:r>
          </a:p>
          <a:p>
            <a:r>
              <a:rPr lang="uk-UA" dirty="0" smtClean="0"/>
              <a:t>Моделі </a:t>
            </a:r>
            <a:r>
              <a:rPr lang="uk-UA" dirty="0"/>
              <a:t>конструювання визначаються використовуваним стандартом життєвого циклу, застосовуваними </a:t>
            </a:r>
            <a:r>
              <a:rPr lang="uk-UA" dirty="0" err="1"/>
              <a:t>методологіями</a:t>
            </a:r>
            <a:r>
              <a:rPr lang="uk-UA" dirty="0"/>
              <a:t> і практиками.</a:t>
            </a:r>
            <a:endParaRPr lang="uk-UA" dirty="0" smtClean="0"/>
          </a:p>
          <a:p>
            <a:r>
              <a:rPr lang="uk-UA" dirty="0"/>
              <a:t>Деякі стандарти життєвого циклу, за своєю природою, є орієнтованими на конструювання - наприклад, екстремальне програмування (XP-</a:t>
            </a:r>
            <a:r>
              <a:rPr lang="uk-UA" dirty="0" err="1"/>
              <a:t>eXtreme</a:t>
            </a:r>
            <a:r>
              <a:rPr lang="uk-UA" dirty="0"/>
              <a:t> </a:t>
            </a:r>
            <a:r>
              <a:rPr lang="uk-UA" dirty="0" err="1"/>
              <a:t>Programming</a:t>
            </a:r>
            <a:r>
              <a:rPr lang="uk-UA" dirty="0"/>
              <a:t>). Деякі розглядають конструювання в нерозривному зв'язку з проектуванням (в частині моделювання), наприклад, RUP (</a:t>
            </a:r>
            <a:r>
              <a:rPr lang="uk-UA" dirty="0" err="1"/>
              <a:t>Rational</a:t>
            </a:r>
            <a:r>
              <a:rPr lang="uk-UA" dirty="0"/>
              <a:t> </a:t>
            </a:r>
            <a:r>
              <a:rPr lang="uk-UA" dirty="0" err="1"/>
              <a:t>Unified</a:t>
            </a:r>
            <a:r>
              <a:rPr lang="uk-UA" dirty="0"/>
              <a:t> </a:t>
            </a:r>
            <a:r>
              <a:rPr lang="uk-UA" dirty="0" err="1"/>
              <a:t>Process</a:t>
            </a:r>
            <a:r>
              <a:rPr lang="uk-UA" dirty="0"/>
              <a:t>).</a:t>
            </a:r>
            <a:endParaRPr lang="uk-UA" dirty="0"/>
          </a:p>
        </p:txBody>
      </p:sp>
    </p:spTree>
    <p:extLst>
      <p:ext uri="{BB962C8B-B14F-4D97-AF65-F5344CB8AC3E}">
        <p14:creationId xmlns:p14="http://schemas.microsoft.com/office/powerpoint/2010/main" val="3371423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751648"/>
            <a:ext cx="9609668" cy="467552"/>
          </a:xfrm>
        </p:spPr>
        <p:txBody>
          <a:bodyPr>
            <a:normAutofit fontScale="90000"/>
          </a:bodyPr>
          <a:lstStyle/>
          <a:p>
            <a:pPr algn="ctr"/>
            <a:r>
              <a:rPr lang="uk-UA" b="1" i="1" dirty="0"/>
              <a:t>Планування конструювання (</a:t>
            </a:r>
            <a:r>
              <a:rPr lang="uk-UA" b="1" i="1" dirty="0" err="1"/>
              <a:t>Construction</a:t>
            </a:r>
            <a:r>
              <a:rPr lang="uk-UA" b="1" i="1" dirty="0"/>
              <a:t> </a:t>
            </a:r>
            <a:r>
              <a:rPr lang="uk-UA" b="1" i="1" dirty="0" err="1"/>
              <a:t>Planning</a:t>
            </a:r>
            <a:r>
              <a:rPr lang="uk-UA" b="1" i="1" dirty="0"/>
              <a:t>)</a:t>
            </a:r>
            <a:endParaRPr lang="uk-UA" dirty="0"/>
          </a:p>
        </p:txBody>
      </p:sp>
      <p:sp>
        <p:nvSpPr>
          <p:cNvPr id="3" name="Текст 2"/>
          <p:cNvSpPr>
            <a:spLocks noGrp="1"/>
          </p:cNvSpPr>
          <p:nvPr>
            <p:ph type="body" idx="1"/>
          </p:nvPr>
        </p:nvSpPr>
        <p:spPr>
          <a:xfrm>
            <a:off x="1295401" y="1363133"/>
            <a:ext cx="9609668" cy="4274648"/>
          </a:xfrm>
        </p:spPr>
        <p:txBody>
          <a:bodyPr/>
          <a:lstStyle/>
          <a:p>
            <a:r>
              <a:rPr lang="uk-UA" dirty="0" smtClean="0"/>
              <a:t>	Планування </a:t>
            </a:r>
            <a:r>
              <a:rPr lang="uk-UA" dirty="0"/>
              <a:t>конструкторської діяльності визначає порядок, в якому створюються компоненти та інші активи цієї галузі знань (фази діяльності), проводяться роботи по забезпеченню якості одержуваного програмного забезпечення, </a:t>
            </a:r>
            <a:r>
              <a:rPr lang="uk-UA" dirty="0" smtClean="0"/>
              <a:t>розподіляються завдання </a:t>
            </a:r>
            <a:r>
              <a:rPr lang="uk-UA" dirty="0"/>
              <a:t>і відповідні ресурси, в тому числі, визначаються призначення / відображення робіт конкретним інженерам-програмістам, членам проектної групи. Все це, звичайно, відбувається, дотримуючись правил, що визначаються використовуваним методом (методологією, практиками і </a:t>
            </a:r>
            <a:r>
              <a:rPr lang="uk-UA" dirty="0" err="1"/>
              <a:t>т.п</a:t>
            </a:r>
            <a:r>
              <a:rPr lang="uk-UA" dirty="0" smtClean="0"/>
              <a:t>.).</a:t>
            </a:r>
          </a:p>
          <a:p>
            <a:r>
              <a:rPr lang="uk-UA" dirty="0" smtClean="0"/>
              <a:t>	Більша </a:t>
            </a:r>
            <a:r>
              <a:rPr lang="uk-UA" dirty="0"/>
              <a:t>частина результатів, та й самої діяльності з конструювання програмного забезпечення, може бути виміряна, в тому числі - кількісно. Це і вихідний розроблений код, і модифікований обсяг коду, і ступінь повторного використання, і багато інших характеристик.</a:t>
            </a:r>
            <a:endParaRPr lang="uk-UA" dirty="0"/>
          </a:p>
        </p:txBody>
      </p:sp>
    </p:spTree>
    <p:extLst>
      <p:ext uri="{BB962C8B-B14F-4D97-AF65-F5344CB8AC3E}">
        <p14:creationId xmlns:p14="http://schemas.microsoft.com/office/powerpoint/2010/main" val="4052556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13935" y="819381"/>
            <a:ext cx="9609668" cy="873952"/>
          </a:xfrm>
        </p:spPr>
        <p:txBody>
          <a:bodyPr>
            <a:normAutofit fontScale="90000"/>
          </a:bodyPr>
          <a:lstStyle/>
          <a:p>
            <a:pPr algn="ctr"/>
            <a:r>
              <a:rPr lang="uk-UA" b="1" i="1" dirty="0"/>
              <a:t>Зміни в конструюванні та вимірювання в конструюванні (</a:t>
            </a:r>
            <a:r>
              <a:rPr lang="en-US" b="1" i="1" dirty="0"/>
              <a:t>Construction Measurement</a:t>
            </a:r>
            <a:r>
              <a:rPr lang="uk-UA" b="1" i="1" dirty="0"/>
              <a:t>)</a:t>
            </a:r>
            <a:endParaRPr lang="uk-UA" dirty="0"/>
          </a:p>
        </p:txBody>
      </p:sp>
      <p:sp>
        <p:nvSpPr>
          <p:cNvPr id="3" name="Текст 2"/>
          <p:cNvSpPr>
            <a:spLocks noGrp="1"/>
          </p:cNvSpPr>
          <p:nvPr>
            <p:ph type="body" idx="1"/>
          </p:nvPr>
        </p:nvSpPr>
        <p:spPr>
          <a:xfrm>
            <a:off x="1413935" y="1947332"/>
            <a:ext cx="9609668" cy="3707381"/>
          </a:xfrm>
        </p:spPr>
        <p:txBody>
          <a:bodyPr/>
          <a:lstStyle/>
          <a:p>
            <a:r>
              <a:rPr lang="uk-UA" dirty="0" smtClean="0"/>
              <a:t>Вихідний </a:t>
            </a:r>
            <a:r>
              <a:rPr lang="uk-UA" dirty="0"/>
              <a:t>розроблений код, і модифікований обсяг коду, і ступінь повторного використання, і багато інших </a:t>
            </a:r>
            <a:r>
              <a:rPr lang="uk-UA" dirty="0" smtClean="0"/>
              <a:t>характеристик - виміри, або  - </a:t>
            </a:r>
            <a:r>
              <a:rPr lang="uk-UA" dirty="0"/>
              <a:t>результати аудиту коду і метрики коду, несуть велику користь як для оцінки ризиків і </a:t>
            </a:r>
            <a:r>
              <a:rPr lang="uk-UA" dirty="0" smtClean="0"/>
              <a:t>якості, </a:t>
            </a:r>
            <a:r>
              <a:rPr lang="uk-UA" dirty="0"/>
              <a:t>а також, для керування конструюванням і програмними проектами, в цілому</a:t>
            </a:r>
            <a:r>
              <a:rPr lang="uk-UA" dirty="0" smtClean="0"/>
              <a:t>.</a:t>
            </a:r>
          </a:p>
          <a:p>
            <a:r>
              <a:rPr lang="uk-UA" dirty="0"/>
              <a:t>Код є одним з найбільш чітко детермінованих активів </a:t>
            </a:r>
            <a:r>
              <a:rPr lang="uk-UA" dirty="0" smtClean="0"/>
              <a:t>проекту</a:t>
            </a:r>
          </a:p>
          <a:p>
            <a:r>
              <a:rPr lang="uk-UA" dirty="0"/>
              <a:t>Важливим є </a:t>
            </a:r>
            <a:r>
              <a:rPr lang="uk-UA" b="1" i="1" dirty="0" err="1"/>
              <a:t>рефакторинг</a:t>
            </a:r>
            <a:r>
              <a:rPr lang="uk-UA" b="1" i="1" dirty="0"/>
              <a:t> коду</a:t>
            </a:r>
            <a:r>
              <a:rPr lang="uk-UA" dirty="0"/>
              <a:t> як метод його реструктурування, покликаний без зміни змісту (тобто функціональності та функціональної цілісності) забезпечити вирішення завдань мінімізації складності, готовності до змін (гнучкості), прозорості документування і багатьох інших актуальних аспектів конструювання. Застосування вимірювань, зокрема, метрик, дозволяє визначити необхідність внесення таких змін, проведення </a:t>
            </a:r>
            <a:r>
              <a:rPr lang="uk-UA" dirty="0" err="1"/>
              <a:t>рефакторинга</a:t>
            </a:r>
            <a:r>
              <a:rPr lang="uk-UA" dirty="0"/>
              <a:t>.</a:t>
            </a:r>
            <a:endParaRPr lang="uk-UA" dirty="0"/>
          </a:p>
        </p:txBody>
      </p:sp>
    </p:spTree>
    <p:extLst>
      <p:ext uri="{BB962C8B-B14F-4D97-AF65-F5344CB8AC3E}">
        <p14:creationId xmlns:p14="http://schemas.microsoft.com/office/powerpoint/2010/main" val="956900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810915"/>
            <a:ext cx="9609668" cy="408286"/>
          </a:xfrm>
        </p:spPr>
        <p:txBody>
          <a:bodyPr>
            <a:normAutofit fontScale="90000"/>
          </a:bodyPr>
          <a:lstStyle/>
          <a:p>
            <a:pPr algn="ctr"/>
            <a:r>
              <a:rPr lang="uk-UA" b="1" dirty="0"/>
              <a:t>Практичні міркування (</a:t>
            </a:r>
            <a:r>
              <a:rPr lang="uk-UA" b="1" dirty="0" err="1"/>
              <a:t>Practical</a:t>
            </a:r>
            <a:r>
              <a:rPr lang="uk-UA" b="1" dirty="0"/>
              <a:t> </a:t>
            </a:r>
            <a:r>
              <a:rPr lang="uk-UA" b="1" dirty="0" err="1"/>
              <a:t>Considerations</a:t>
            </a:r>
            <a:r>
              <a:rPr lang="uk-UA" b="1" dirty="0"/>
              <a:t>)</a:t>
            </a:r>
            <a:endParaRPr lang="uk-UA" dirty="0"/>
          </a:p>
        </p:txBody>
      </p:sp>
      <p:sp>
        <p:nvSpPr>
          <p:cNvPr id="3" name="Текст 2"/>
          <p:cNvSpPr>
            <a:spLocks noGrp="1"/>
          </p:cNvSpPr>
          <p:nvPr>
            <p:ph type="body" idx="1"/>
          </p:nvPr>
        </p:nvSpPr>
        <p:spPr>
          <a:xfrm>
            <a:off x="1295401" y="1397000"/>
            <a:ext cx="9609668" cy="1354667"/>
          </a:xfrm>
        </p:spPr>
        <p:txBody>
          <a:bodyPr>
            <a:noAutofit/>
          </a:bodyPr>
          <a:lstStyle/>
          <a:p>
            <a:r>
              <a:rPr lang="uk-UA" sz="2400" dirty="0"/>
              <a:t>Конструювання - діяльність, в рамках якої програмне забезпечення наводиться до угоди з довільними (іноді - хаотичними) обмеженнями реального світу, які вимагають від програмного забезпечення точного дотримання їх. Наближаючись до обмежень реального світу, конструювання (ведеться на основі практичних міркувань і технік.</a:t>
            </a:r>
            <a:endParaRPr lang="uk-UA" sz="2400" dirty="0"/>
          </a:p>
        </p:txBody>
      </p:sp>
      <p:sp>
        <p:nvSpPr>
          <p:cNvPr id="4" name="Заголовок 1"/>
          <p:cNvSpPr txBox="1">
            <a:spLocks/>
          </p:cNvSpPr>
          <p:nvPr/>
        </p:nvSpPr>
        <p:spPr>
          <a:xfrm>
            <a:off x="1295401" y="3384781"/>
            <a:ext cx="9609668" cy="408286"/>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3200" b="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uk-UA" sz="2800" b="1" dirty="0"/>
              <a:t>Проектування в конструюванні (</a:t>
            </a:r>
            <a:r>
              <a:rPr lang="ru-RU" sz="2800" b="1" dirty="0" err="1"/>
              <a:t>Construction</a:t>
            </a:r>
            <a:r>
              <a:rPr lang="ru-RU" sz="2800" b="1" dirty="0"/>
              <a:t> </a:t>
            </a:r>
            <a:r>
              <a:rPr lang="ru-RU" sz="2800" b="1" dirty="0" err="1"/>
              <a:t>Design</a:t>
            </a:r>
            <a:r>
              <a:rPr lang="uk-UA" sz="2800" b="1" dirty="0"/>
              <a:t>)</a:t>
            </a:r>
            <a:endParaRPr lang="uk-UA" sz="2800" dirty="0"/>
          </a:p>
        </p:txBody>
      </p:sp>
      <p:sp>
        <p:nvSpPr>
          <p:cNvPr id="5" name="Текст 2"/>
          <p:cNvSpPr txBox="1">
            <a:spLocks/>
          </p:cNvSpPr>
          <p:nvPr/>
        </p:nvSpPr>
        <p:spPr>
          <a:xfrm>
            <a:off x="1388534" y="3960515"/>
            <a:ext cx="9609668" cy="1354667"/>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accent1"/>
              </a:buClr>
              <a:buSzPct val="115000"/>
              <a:buFont typeface="Arial"/>
              <a:buNone/>
              <a:defRPr sz="2000" kern="1200" cap="none">
                <a:solidFill>
                  <a:schemeClr val="tx1"/>
                </a:solidFill>
                <a:effectLst/>
                <a:latin typeface="+mn-lt"/>
                <a:ea typeface="+mn-ea"/>
                <a:cs typeface="+mn-cs"/>
              </a:defRPr>
            </a:lvl1pPr>
            <a:lvl2pPr marL="457200" indent="0" algn="l" defTabSz="457200" rtl="0" eaLnBrk="1" latinLnBrk="0" hangingPunct="1">
              <a:spcBef>
                <a:spcPct val="20000"/>
              </a:spcBef>
              <a:spcAft>
                <a:spcPts val="600"/>
              </a:spcAft>
              <a:buClr>
                <a:schemeClr val="accent1"/>
              </a:buClr>
              <a:buSzPct val="115000"/>
              <a:buFont typeface="Arial"/>
              <a:buNone/>
              <a:defRPr sz="1800" kern="1200" cap="none">
                <a:solidFill>
                  <a:schemeClr val="tx1">
                    <a:tint val="75000"/>
                  </a:schemeClr>
                </a:solidFill>
                <a:effectLst/>
                <a:latin typeface="+mn-lt"/>
                <a:ea typeface="+mn-ea"/>
                <a:cs typeface="+mn-cs"/>
              </a:defRPr>
            </a:lvl2pPr>
            <a:lvl3pPr marL="914400" indent="0" algn="l" defTabSz="457200" rtl="0" eaLnBrk="1" latinLnBrk="0" hangingPunct="1">
              <a:spcBef>
                <a:spcPct val="20000"/>
              </a:spcBef>
              <a:spcAft>
                <a:spcPts val="600"/>
              </a:spcAft>
              <a:buClr>
                <a:schemeClr val="accent1"/>
              </a:buClr>
              <a:buSzPct val="115000"/>
              <a:buFont typeface="Arial"/>
              <a:buNone/>
              <a:defRPr sz="1600" kern="1200" cap="none">
                <a:solidFill>
                  <a:schemeClr val="tx1">
                    <a:tint val="75000"/>
                  </a:schemeClr>
                </a:solidFill>
                <a:effectLst/>
                <a:latin typeface="+mn-lt"/>
                <a:ea typeface="+mn-ea"/>
                <a:cs typeface="+mn-cs"/>
              </a:defRPr>
            </a:lvl3pPr>
            <a:lvl4pPr marL="1371600" indent="0" algn="l" defTabSz="457200" rtl="0" eaLnBrk="1" latinLnBrk="0" hangingPunct="1">
              <a:spcBef>
                <a:spcPct val="20000"/>
              </a:spcBef>
              <a:spcAft>
                <a:spcPts val="600"/>
              </a:spcAft>
              <a:buClr>
                <a:schemeClr val="accent1"/>
              </a:buClr>
              <a:buSzPct val="115000"/>
              <a:buFont typeface="Arial"/>
              <a:buNone/>
              <a:defRPr sz="1400" kern="1200" cap="none">
                <a:solidFill>
                  <a:schemeClr val="tx1">
                    <a:tint val="75000"/>
                  </a:schemeClr>
                </a:solidFill>
                <a:effectLst/>
                <a:latin typeface="+mn-lt"/>
                <a:ea typeface="+mn-ea"/>
                <a:cs typeface="+mn-cs"/>
              </a:defRPr>
            </a:lvl4pPr>
            <a:lvl5pPr marL="1828800" indent="0" algn="l" defTabSz="457200" rtl="0" eaLnBrk="1" latinLnBrk="0" hangingPunct="1">
              <a:spcBef>
                <a:spcPct val="20000"/>
              </a:spcBef>
              <a:spcAft>
                <a:spcPts val="600"/>
              </a:spcAft>
              <a:buClr>
                <a:schemeClr val="accent1"/>
              </a:buClr>
              <a:buSzPct val="115000"/>
              <a:buFont typeface="Arial"/>
              <a:buNone/>
              <a:defRPr sz="1400" kern="1200" cap="none">
                <a:solidFill>
                  <a:schemeClr val="tx1">
                    <a:tint val="75000"/>
                  </a:schemeClr>
                </a:solidFill>
                <a:effectLst/>
                <a:latin typeface="+mn-lt"/>
                <a:ea typeface="+mn-ea"/>
                <a:cs typeface="+mn-cs"/>
              </a:defRPr>
            </a:lvl5pPr>
            <a:lvl6pPr marL="2286000" indent="0" algn="l" defTabSz="457200" rtl="0" eaLnBrk="1" latinLnBrk="0" hangingPunct="1">
              <a:spcBef>
                <a:spcPct val="20000"/>
              </a:spcBef>
              <a:spcAft>
                <a:spcPts val="600"/>
              </a:spcAft>
              <a:buClr>
                <a:schemeClr val="accent1"/>
              </a:buClr>
              <a:buSzPct val="115000"/>
              <a:buFont typeface="Arial"/>
              <a:buNone/>
              <a:defRPr sz="1400" kern="1200" cap="none">
                <a:solidFill>
                  <a:schemeClr val="tx1">
                    <a:tint val="75000"/>
                  </a:schemeClr>
                </a:solidFill>
                <a:effectLst/>
                <a:latin typeface="+mn-lt"/>
                <a:ea typeface="+mn-ea"/>
                <a:cs typeface="+mn-cs"/>
              </a:defRPr>
            </a:lvl6pPr>
            <a:lvl7pPr marL="2743200" indent="0" algn="l" defTabSz="457200" rtl="0" eaLnBrk="1" latinLnBrk="0" hangingPunct="1">
              <a:spcBef>
                <a:spcPct val="20000"/>
              </a:spcBef>
              <a:spcAft>
                <a:spcPts val="600"/>
              </a:spcAft>
              <a:buClr>
                <a:schemeClr val="accent1"/>
              </a:buClr>
              <a:buSzPct val="115000"/>
              <a:buFont typeface="Arial"/>
              <a:buNone/>
              <a:defRPr sz="1400" kern="1200" cap="none">
                <a:solidFill>
                  <a:schemeClr val="tx1">
                    <a:tint val="75000"/>
                  </a:schemeClr>
                </a:solidFill>
                <a:effectLst/>
                <a:latin typeface="+mn-lt"/>
                <a:ea typeface="+mn-ea"/>
                <a:cs typeface="+mn-cs"/>
              </a:defRPr>
            </a:lvl7pPr>
            <a:lvl8pPr marL="3200400" indent="0" algn="l" defTabSz="457200" rtl="0" eaLnBrk="1" latinLnBrk="0" hangingPunct="1">
              <a:spcBef>
                <a:spcPct val="20000"/>
              </a:spcBef>
              <a:spcAft>
                <a:spcPts val="600"/>
              </a:spcAft>
              <a:buClr>
                <a:schemeClr val="accent1"/>
              </a:buClr>
              <a:buSzPct val="115000"/>
              <a:buFont typeface="Arial"/>
              <a:buNone/>
              <a:defRPr sz="1400" kern="1200" cap="none">
                <a:solidFill>
                  <a:schemeClr val="tx1">
                    <a:tint val="75000"/>
                  </a:schemeClr>
                </a:solidFill>
                <a:effectLst/>
                <a:latin typeface="+mn-lt"/>
                <a:ea typeface="+mn-ea"/>
                <a:cs typeface="+mn-cs"/>
              </a:defRPr>
            </a:lvl8pPr>
            <a:lvl9pPr marL="3657600" indent="0" algn="l" defTabSz="457200" rtl="0" eaLnBrk="1" latinLnBrk="0" hangingPunct="1">
              <a:spcBef>
                <a:spcPct val="20000"/>
              </a:spcBef>
              <a:spcAft>
                <a:spcPts val="600"/>
              </a:spcAft>
              <a:buClr>
                <a:schemeClr val="accent1"/>
              </a:buClr>
              <a:buSzPct val="115000"/>
              <a:buFont typeface="Arial"/>
              <a:buNone/>
              <a:defRPr sz="1400" kern="1200" cap="none">
                <a:solidFill>
                  <a:schemeClr val="tx1">
                    <a:tint val="75000"/>
                  </a:schemeClr>
                </a:solidFill>
                <a:effectLst/>
                <a:latin typeface="+mn-lt"/>
                <a:ea typeface="+mn-ea"/>
                <a:cs typeface="+mn-cs"/>
              </a:defRPr>
            </a:lvl9pPr>
          </a:lstStyle>
          <a:p>
            <a:r>
              <a:rPr lang="uk-UA" sz="2400" dirty="0"/>
              <a:t>Практично завжди на стадії конструювання доводиться займатися і питаннями детального дизайну системи для встановлення обмежень, пов‘язаних з конкретними проблемами, вирішення яких має бути забезпечене програмною системою</a:t>
            </a:r>
            <a:endParaRPr lang="uk-UA" sz="2400" dirty="0"/>
          </a:p>
        </p:txBody>
      </p:sp>
    </p:spTree>
    <p:extLst>
      <p:ext uri="{BB962C8B-B14F-4D97-AF65-F5344CB8AC3E}">
        <p14:creationId xmlns:p14="http://schemas.microsoft.com/office/powerpoint/2010/main" val="2727661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19202" y="777047"/>
            <a:ext cx="9609668" cy="459086"/>
          </a:xfrm>
        </p:spPr>
        <p:txBody>
          <a:bodyPr>
            <a:normAutofit fontScale="90000"/>
          </a:bodyPr>
          <a:lstStyle/>
          <a:p>
            <a:pPr algn="ctr"/>
            <a:r>
              <a:rPr lang="uk-UA" b="1" i="1" dirty="0"/>
              <a:t>Мови конструювання</a:t>
            </a:r>
            <a:endParaRPr lang="uk-UA" dirty="0"/>
          </a:p>
        </p:txBody>
      </p:sp>
      <p:sp>
        <p:nvSpPr>
          <p:cNvPr id="3" name="Текст 2"/>
          <p:cNvSpPr>
            <a:spLocks noGrp="1"/>
          </p:cNvSpPr>
          <p:nvPr>
            <p:ph type="body" idx="1"/>
          </p:nvPr>
        </p:nvSpPr>
        <p:spPr>
          <a:xfrm>
            <a:off x="1295401" y="1303867"/>
            <a:ext cx="9609668" cy="4333914"/>
          </a:xfrm>
        </p:spPr>
        <p:txBody>
          <a:bodyPr>
            <a:normAutofit lnSpcReduction="10000"/>
          </a:bodyPr>
          <a:lstStyle/>
          <a:p>
            <a:r>
              <a:rPr lang="uk-UA" sz="2800" i="1" dirty="0"/>
              <a:t>Інструментальний мова</a:t>
            </a:r>
            <a:r>
              <a:rPr lang="uk-UA" sz="2800" dirty="0"/>
              <a:t> (</a:t>
            </a:r>
            <a:r>
              <a:rPr lang="uk-UA" sz="2800" dirty="0" err="1"/>
              <a:t>toolkit</a:t>
            </a:r>
            <a:r>
              <a:rPr lang="uk-UA" sz="2800" dirty="0"/>
              <a:t> </a:t>
            </a:r>
            <a:r>
              <a:rPr lang="uk-UA" sz="2800" dirty="0" err="1"/>
              <a:t>language</a:t>
            </a:r>
            <a:r>
              <a:rPr lang="uk-UA" sz="2800" dirty="0"/>
              <a:t>) - мова конструювання з повторно-використовуваних елементів; зазвичай будується як сценарний мова (</a:t>
            </a:r>
            <a:r>
              <a:rPr lang="uk-UA" sz="2800" dirty="0" err="1"/>
              <a:t>script</a:t>
            </a:r>
            <a:r>
              <a:rPr lang="uk-UA" sz="2800" dirty="0"/>
              <a:t>), що здійснюється у відповідному середовищі.</a:t>
            </a:r>
          </a:p>
          <a:p>
            <a:r>
              <a:rPr lang="uk-UA" sz="2800" i="1" dirty="0"/>
              <a:t>Мова програмування</a:t>
            </a:r>
            <a:r>
              <a:rPr lang="uk-UA" sz="2800" dirty="0"/>
              <a:t> (</a:t>
            </a:r>
            <a:r>
              <a:rPr lang="uk-UA" sz="2800" dirty="0" err="1"/>
              <a:t>programming</a:t>
            </a:r>
            <a:r>
              <a:rPr lang="uk-UA" sz="2800" dirty="0"/>
              <a:t> </a:t>
            </a:r>
            <a:r>
              <a:rPr lang="uk-UA" sz="2800" dirty="0" err="1"/>
              <a:t>language</a:t>
            </a:r>
            <a:r>
              <a:rPr lang="uk-UA" sz="2800" dirty="0"/>
              <a:t>) - найбільш гнучкий тип мов конструювання. Містить мінімальний обсяг інформації про конкретні областях програми, але процесі розробки, вимагаючи найбільше (порівняно з іншими типами мов конструювання) зусиль на вивчення і напрацювання досвіду для ефективного застосування при вирішенні конкретних завдань.</a:t>
            </a:r>
          </a:p>
          <a:p>
            <a:endParaRPr lang="uk-UA" dirty="0"/>
          </a:p>
        </p:txBody>
      </p:sp>
    </p:spTree>
    <p:extLst>
      <p:ext uri="{BB962C8B-B14F-4D97-AF65-F5344CB8AC3E}">
        <p14:creationId xmlns:p14="http://schemas.microsoft.com/office/powerpoint/2010/main" val="2770386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760114"/>
            <a:ext cx="9609668" cy="569152"/>
          </a:xfrm>
        </p:spPr>
        <p:txBody>
          <a:bodyPr>
            <a:normAutofit fontScale="90000"/>
          </a:bodyPr>
          <a:lstStyle/>
          <a:p>
            <a:r>
              <a:rPr lang="uk-UA" b="1" dirty="0" smtClean="0"/>
              <a:t>Нотації при </a:t>
            </a:r>
            <a:r>
              <a:rPr lang="uk-UA" b="1" dirty="0"/>
              <a:t>визначенні мов програмування</a:t>
            </a:r>
          </a:p>
        </p:txBody>
      </p:sp>
      <p:sp>
        <p:nvSpPr>
          <p:cNvPr id="3" name="Текст 2"/>
          <p:cNvSpPr>
            <a:spLocks noGrp="1"/>
          </p:cNvSpPr>
          <p:nvPr>
            <p:ph type="body" idx="1"/>
          </p:nvPr>
        </p:nvSpPr>
        <p:spPr>
          <a:xfrm>
            <a:off x="1295401" y="1456266"/>
            <a:ext cx="9609668" cy="4632113"/>
          </a:xfrm>
        </p:spPr>
        <p:txBody>
          <a:bodyPr>
            <a:normAutofit fontScale="40000" lnSpcReduction="20000"/>
          </a:bodyPr>
          <a:lstStyle/>
          <a:p>
            <a:r>
              <a:rPr lang="uk-UA" sz="4000" dirty="0"/>
              <a:t>Існує три основних види </a:t>
            </a:r>
            <a:r>
              <a:rPr lang="uk-UA" sz="4000" dirty="0" smtClean="0"/>
              <a:t>:  лінгвістична,  формальна,  </a:t>
            </a:r>
            <a:r>
              <a:rPr lang="uk-UA" sz="4000" dirty="0"/>
              <a:t>візуальна</a:t>
            </a:r>
          </a:p>
          <a:p>
            <a:r>
              <a:rPr lang="uk-UA" sz="4000" u="dotted" dirty="0"/>
              <a:t>Лінгвістичні нотації</a:t>
            </a:r>
            <a:r>
              <a:rPr lang="uk-UA" sz="4000" dirty="0"/>
              <a:t> характеризуються, зокрема, використанням рядків тексту, що містять спеціалізовані "слова", які представляють складні програмні конструкції, і комбіновані в шаблони, що нагадують пропозиції, побудовані відповідно до визначеного синтаксисом. </a:t>
            </a:r>
            <a:endParaRPr lang="uk-UA" sz="4000" dirty="0" smtClean="0"/>
          </a:p>
          <a:p>
            <a:r>
              <a:rPr lang="uk-UA" sz="4000" u="dotted" dirty="0" smtClean="0"/>
              <a:t>Формальні </a:t>
            </a:r>
            <a:r>
              <a:rPr lang="uk-UA" sz="4000" u="dotted" dirty="0"/>
              <a:t>нотації</a:t>
            </a:r>
            <a:r>
              <a:rPr lang="uk-UA" sz="4000" dirty="0"/>
              <a:t> (наприклад, </a:t>
            </a:r>
            <a:r>
              <a:rPr lang="uk-UA" sz="4000" dirty="0" err="1"/>
              <a:t>нота́ція</a:t>
            </a:r>
            <a:r>
              <a:rPr lang="uk-UA" sz="4000" dirty="0"/>
              <a:t> </a:t>
            </a:r>
            <a:r>
              <a:rPr lang="uk-UA" sz="4000" dirty="0" err="1"/>
              <a:t>Бе́куса</a:t>
            </a:r>
            <a:r>
              <a:rPr lang="uk-UA" sz="4000" dirty="0"/>
              <a:t>—</a:t>
            </a:r>
            <a:r>
              <a:rPr lang="uk-UA" sz="4000" dirty="0" err="1"/>
              <a:t>Нау́ра</a:t>
            </a:r>
            <a:r>
              <a:rPr lang="uk-UA" sz="4000" dirty="0"/>
              <a:t>) </a:t>
            </a:r>
            <a:r>
              <a:rPr lang="uk-UA" sz="4000" dirty="0" smtClean="0"/>
              <a:t>часто </a:t>
            </a:r>
            <a:r>
              <a:rPr lang="uk-UA" sz="4000" dirty="0"/>
              <a:t>базуються на точних формальних (математичних) визначеннях. Формальні нотації конструкцій і формальні методи є ядром практично всіх форм системного програмування, точніше - поведінки систем в часі. </a:t>
            </a:r>
            <a:r>
              <a:rPr lang="uk-UA" sz="4000" dirty="0" smtClean="0"/>
              <a:t>Формальні </a:t>
            </a:r>
            <a:r>
              <a:rPr lang="uk-UA" sz="4000" dirty="0"/>
              <a:t>конструкції також використовують точний метод визначення комбінацій застосовуваних символів, що дозволяє уникнути </a:t>
            </a:r>
            <a:r>
              <a:rPr lang="uk-UA" sz="4000" dirty="0" err="1"/>
              <a:t>неоднозначностей</a:t>
            </a:r>
            <a:r>
              <a:rPr lang="uk-UA" sz="4000" dirty="0"/>
              <a:t>, властивих конструкціям природних мов.</a:t>
            </a:r>
          </a:p>
          <a:p>
            <a:r>
              <a:rPr lang="uk-UA" sz="4000" u="dotted" dirty="0"/>
              <a:t>Візуальні нотації</a:t>
            </a:r>
            <a:r>
              <a:rPr lang="uk-UA" sz="4000" dirty="0"/>
              <a:t> найменш пов'язані з </a:t>
            </a:r>
            <a:r>
              <a:rPr lang="uk-UA" sz="4000" dirty="0" err="1"/>
              <a:t>текстово</a:t>
            </a:r>
            <a:r>
              <a:rPr lang="uk-UA" sz="4000" dirty="0"/>
              <a:t>-орієнтованими підходами, припускаючи безпосередню інтерпретацію візуальних конструкцій в процесі виконання описуваної логіки. При цьому логіка у візуальних нотаціях задається розташуванням відповідних візуальних сутностей, відповідальних за ті чи інші операції і структури даних.</a:t>
            </a:r>
          </a:p>
          <a:p>
            <a:r>
              <a:rPr lang="uk-UA" sz="4000" dirty="0"/>
              <a:t>Використання візуальних конструкцій обмежено складністю візуального представлення складних висловів та тверджень тільки за рахунок переміщення візуальних сутностей на діаграмі (візуальному представленні). Однак, візуальна нотація може грати роль досить потужного інструменту, коли застосовується в тих завданнях програмування, де необхідна побудова інтерфейсу для програм, чия логіка. Деталізоване поведінка визначено раніше.</a:t>
            </a:r>
          </a:p>
          <a:p>
            <a:endParaRPr lang="uk-UA" dirty="0"/>
          </a:p>
        </p:txBody>
      </p:sp>
    </p:spTree>
    <p:extLst>
      <p:ext uri="{BB962C8B-B14F-4D97-AF65-F5344CB8AC3E}">
        <p14:creationId xmlns:p14="http://schemas.microsoft.com/office/powerpoint/2010/main" val="26639633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771121"/>
            <a:ext cx="9609668" cy="509039"/>
          </a:xfrm>
        </p:spPr>
        <p:txBody>
          <a:bodyPr>
            <a:normAutofit fontScale="90000"/>
          </a:bodyPr>
          <a:lstStyle/>
          <a:p>
            <a:pPr algn="ctr"/>
            <a:r>
              <a:rPr lang="uk-UA" b="1" i="1" dirty="0"/>
              <a:t>Кодування </a:t>
            </a:r>
            <a:r>
              <a:rPr lang="uk-UA" b="1" dirty="0"/>
              <a:t>(</a:t>
            </a:r>
            <a:r>
              <a:rPr lang="uk-UA" b="1" dirty="0" err="1"/>
              <a:t>Coding</a:t>
            </a:r>
            <a:r>
              <a:rPr lang="uk-UA" b="1" dirty="0"/>
              <a:t>)</a:t>
            </a:r>
            <a:endParaRPr lang="uk-UA" dirty="0"/>
          </a:p>
        </p:txBody>
      </p:sp>
      <p:sp>
        <p:nvSpPr>
          <p:cNvPr id="3" name="Текст 2"/>
          <p:cNvSpPr>
            <a:spLocks noGrp="1"/>
          </p:cNvSpPr>
          <p:nvPr>
            <p:ph type="body" idx="1"/>
          </p:nvPr>
        </p:nvSpPr>
        <p:spPr>
          <a:xfrm>
            <a:off x="883920" y="1379220"/>
            <a:ext cx="10340340" cy="4648200"/>
          </a:xfrm>
        </p:spPr>
        <p:txBody>
          <a:bodyPr>
            <a:normAutofit fontScale="85000" lnSpcReduction="20000"/>
          </a:bodyPr>
          <a:lstStyle/>
          <a:p>
            <a:pPr algn="ctr"/>
            <a:r>
              <a:rPr lang="uk-UA" b="1" dirty="0" smtClean="0"/>
              <a:t>Застосовуються техніки</a:t>
            </a:r>
            <a:r>
              <a:rPr lang="uk-UA" dirty="0" smtClean="0"/>
              <a:t>:</a:t>
            </a:r>
          </a:p>
          <a:p>
            <a:r>
              <a:rPr lang="uk-UA" dirty="0"/>
              <a:t>• техніки створення легко зрозумілого вихідного коду на основі використання угод про іменуванні, форматування і структурування коду;</a:t>
            </a:r>
          </a:p>
          <a:p>
            <a:r>
              <a:rPr lang="uk-UA" dirty="0"/>
              <a:t>• використання класів, що перераховуються типів, змінних, іменованих констант та інших сутностей виразів;</a:t>
            </a:r>
          </a:p>
          <a:p>
            <a:r>
              <a:rPr lang="uk-UA" dirty="0"/>
              <a:t>• організація вихідного тексту (у вирази, шаблони, класи, пакети / модулі та інші структури);</a:t>
            </a:r>
          </a:p>
          <a:p>
            <a:r>
              <a:rPr lang="uk-UA" dirty="0"/>
              <a:t>• використання структур управління;</a:t>
            </a:r>
          </a:p>
          <a:p>
            <a:r>
              <a:rPr lang="uk-UA" dirty="0"/>
              <a:t>• обробка помилкових умов і виняткових ситуацій;</a:t>
            </a:r>
          </a:p>
          <a:p>
            <a:r>
              <a:rPr lang="uk-UA" dirty="0"/>
              <a:t>• запобігання можливих проломів в безпеці (наприклад, переповнення буфера або вихід за межі індексу в масиві);</a:t>
            </a:r>
          </a:p>
          <a:p>
            <a:r>
              <a:rPr lang="uk-UA" dirty="0"/>
              <a:t>• використання ресурсів на основі застосування механізмів виключення (з розгляду) та порядку доступу до паралельно використовуваних ресурсів (наприклад, на основі блокування даних, використання потоків і їх синхронізації і </a:t>
            </a:r>
            <a:r>
              <a:rPr lang="uk-UA" dirty="0" err="1"/>
              <a:t>т.п</a:t>
            </a:r>
            <a:r>
              <a:rPr lang="uk-UA" dirty="0"/>
              <a:t>.);</a:t>
            </a:r>
          </a:p>
          <a:p>
            <a:r>
              <a:rPr lang="uk-UA" dirty="0"/>
              <a:t>• документування коду;</a:t>
            </a:r>
          </a:p>
          <a:p>
            <a:r>
              <a:rPr lang="uk-UA" dirty="0"/>
              <a:t>• тонка "настройка" коду;</a:t>
            </a:r>
          </a:p>
          <a:p>
            <a:r>
              <a:rPr lang="uk-UA" dirty="0"/>
              <a:t>• </a:t>
            </a:r>
            <a:r>
              <a:rPr lang="uk-UA" dirty="0" err="1"/>
              <a:t>реф</a:t>
            </a:r>
            <a:r>
              <a:rPr lang="uk-UA" b="1" dirty="0" err="1"/>
              <a:t>а</a:t>
            </a:r>
            <a:r>
              <a:rPr lang="uk-UA" dirty="0" err="1"/>
              <a:t>кторинг</a:t>
            </a:r>
            <a:r>
              <a:rPr lang="uk-UA" dirty="0"/>
              <a:t> </a:t>
            </a:r>
          </a:p>
          <a:p>
            <a:endParaRPr lang="uk-UA" dirty="0"/>
          </a:p>
        </p:txBody>
      </p:sp>
    </p:spTree>
    <p:extLst>
      <p:ext uri="{BB962C8B-B14F-4D97-AF65-F5344CB8AC3E}">
        <p14:creationId xmlns:p14="http://schemas.microsoft.com/office/powerpoint/2010/main" val="30724570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702541"/>
            <a:ext cx="9609668" cy="592859"/>
          </a:xfrm>
        </p:spPr>
        <p:txBody>
          <a:bodyPr/>
          <a:lstStyle/>
          <a:p>
            <a:r>
              <a:rPr lang="uk-UA" b="1" i="1" dirty="0"/>
              <a:t>Тестування в конструюванні (</a:t>
            </a:r>
            <a:r>
              <a:rPr lang="en-US" b="1" i="1" dirty="0"/>
              <a:t>Construction Testing</a:t>
            </a:r>
            <a:r>
              <a:rPr lang="uk-UA" b="1" i="1" dirty="0"/>
              <a:t>)</a:t>
            </a:r>
            <a:endParaRPr lang="uk-UA" dirty="0"/>
          </a:p>
        </p:txBody>
      </p:sp>
      <p:sp>
        <p:nvSpPr>
          <p:cNvPr id="3" name="Текст 2"/>
          <p:cNvSpPr>
            <a:spLocks noGrp="1"/>
          </p:cNvSpPr>
          <p:nvPr>
            <p:ph type="body" idx="1"/>
          </p:nvPr>
        </p:nvSpPr>
        <p:spPr>
          <a:xfrm>
            <a:off x="1295401" y="1363980"/>
            <a:ext cx="9609668" cy="4610100"/>
          </a:xfrm>
        </p:spPr>
        <p:txBody>
          <a:bodyPr/>
          <a:lstStyle/>
          <a:p>
            <a:r>
              <a:rPr lang="uk-UA" sz="2800" dirty="0"/>
              <a:t>При конструюванні використовуються дві форми тестування, проведеного інженерами, безпосередньо створюють вихідний код:</a:t>
            </a:r>
          </a:p>
          <a:p>
            <a:r>
              <a:rPr lang="uk-UA" sz="2800" dirty="0"/>
              <a:t>• модульне тестування (</a:t>
            </a:r>
            <a:r>
              <a:rPr lang="uk-UA" sz="2800" dirty="0" err="1"/>
              <a:t>unit</a:t>
            </a:r>
            <a:r>
              <a:rPr lang="uk-UA" sz="2800" dirty="0"/>
              <a:t> </a:t>
            </a:r>
            <a:r>
              <a:rPr lang="uk-UA" sz="2800" dirty="0" err="1"/>
              <a:t>testing</a:t>
            </a:r>
            <a:r>
              <a:rPr lang="uk-UA" sz="2800" dirty="0"/>
              <a:t>)</a:t>
            </a:r>
          </a:p>
          <a:p>
            <a:r>
              <a:rPr lang="uk-UA" sz="2800" dirty="0"/>
              <a:t>• інтеграційне тестування (</a:t>
            </a:r>
            <a:r>
              <a:rPr lang="uk-UA" sz="2800" dirty="0" err="1"/>
              <a:t>integration</a:t>
            </a:r>
            <a:r>
              <a:rPr lang="uk-UA" sz="2800" dirty="0"/>
              <a:t> </a:t>
            </a:r>
            <a:r>
              <a:rPr lang="uk-UA" sz="2800" dirty="0" err="1"/>
              <a:t>testing</a:t>
            </a:r>
            <a:r>
              <a:rPr lang="uk-UA" sz="2800" dirty="0"/>
              <a:t>)</a:t>
            </a:r>
          </a:p>
          <a:p>
            <a:r>
              <a:rPr lang="uk-UA" sz="2800" dirty="0"/>
              <a:t>Тестування в конструюванні зазвичай </a:t>
            </a:r>
            <a:r>
              <a:rPr lang="uk-UA" sz="2800" u="sng" dirty="0"/>
              <a:t>не включає </a:t>
            </a:r>
            <a:r>
              <a:rPr lang="uk-UA" sz="2800" dirty="0"/>
              <a:t>системного тестування, тестування навантаження, </a:t>
            </a:r>
            <a:r>
              <a:rPr lang="uk-UA" sz="2800" dirty="0" err="1"/>
              <a:t>usability</a:t>
            </a:r>
            <a:r>
              <a:rPr lang="uk-UA" sz="2800" dirty="0"/>
              <a:t>-тестування (оцінки прозорості використання) та інших видів тестової діяльності.</a:t>
            </a:r>
          </a:p>
          <a:p>
            <a:endParaRPr lang="uk-UA" dirty="0"/>
          </a:p>
        </p:txBody>
      </p:sp>
    </p:spTree>
    <p:extLst>
      <p:ext uri="{BB962C8B-B14F-4D97-AF65-F5344CB8AC3E}">
        <p14:creationId xmlns:p14="http://schemas.microsoft.com/office/powerpoint/2010/main" val="26942353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75362" y="710161"/>
            <a:ext cx="9609668" cy="379499"/>
          </a:xfrm>
        </p:spPr>
        <p:txBody>
          <a:bodyPr>
            <a:normAutofit fontScale="90000"/>
          </a:bodyPr>
          <a:lstStyle/>
          <a:p>
            <a:pPr algn="ctr"/>
            <a:r>
              <a:rPr lang="uk-UA" b="1" dirty="0"/>
              <a:t>Повторне використання</a:t>
            </a:r>
            <a:r>
              <a:rPr lang="ru-RU" b="1" dirty="0"/>
              <a:t> коду</a:t>
            </a:r>
            <a:r>
              <a:rPr lang="ru-RU" dirty="0"/>
              <a:t> </a:t>
            </a:r>
            <a:r>
              <a:rPr lang="uk-UA" dirty="0"/>
              <a:t>(</a:t>
            </a:r>
            <a:r>
              <a:rPr lang="uk-UA" dirty="0" err="1"/>
              <a:t>англ</a:t>
            </a:r>
            <a:r>
              <a:rPr lang="uk-UA" dirty="0"/>
              <a:t>. </a:t>
            </a:r>
            <a:r>
              <a:rPr lang="uk-UA" i="1" dirty="0" err="1"/>
              <a:t>code</a:t>
            </a:r>
            <a:r>
              <a:rPr lang="uk-UA" i="1" dirty="0"/>
              <a:t> </a:t>
            </a:r>
            <a:r>
              <a:rPr lang="uk-UA" i="1" dirty="0" err="1"/>
              <a:t>reuse</a:t>
            </a:r>
            <a:r>
              <a:rPr lang="uk-UA" dirty="0"/>
              <a:t>) </a:t>
            </a:r>
            <a:endParaRPr lang="uk-UA" dirty="0"/>
          </a:p>
        </p:txBody>
      </p:sp>
      <p:sp>
        <p:nvSpPr>
          <p:cNvPr id="3" name="Текст 2"/>
          <p:cNvSpPr>
            <a:spLocks noGrp="1"/>
          </p:cNvSpPr>
          <p:nvPr>
            <p:ph type="body" idx="1"/>
          </p:nvPr>
        </p:nvSpPr>
        <p:spPr>
          <a:xfrm>
            <a:off x="975362" y="1241700"/>
            <a:ext cx="9609668" cy="4823819"/>
          </a:xfrm>
        </p:spPr>
        <p:txBody>
          <a:bodyPr>
            <a:normAutofit/>
          </a:bodyPr>
          <a:lstStyle/>
          <a:p>
            <a:r>
              <a:rPr lang="uk-UA" sz="2400" dirty="0" smtClean="0"/>
              <a:t>	Це методологія </a:t>
            </a:r>
            <a:r>
              <a:rPr lang="uk-UA" sz="2400" dirty="0"/>
              <a:t>проектування комп'ютерних та інших систем, що полягає в тому, що система (</a:t>
            </a:r>
            <a:r>
              <a:rPr lang="uk-UA" sz="2400" dirty="0">
                <a:hlinkClick r:id="rId2" tooltip="Комп'ютерна програма"/>
              </a:rPr>
              <a:t>комп'ютерна програма</a:t>
            </a:r>
            <a:r>
              <a:rPr lang="uk-UA" sz="2400" dirty="0"/>
              <a:t>, програмний модуль) частково або повністю повинна складатися з частин, написаних раніше компонентів і/або частин іншої системи, і ці компоненти повинні застосовуватися більше одного разу (якщо не в рамках одного проекту, то хоча б різних). Повторне використання — основна методологія, яка застосовується для скорочення трудовитрат при розробці складних систем. </a:t>
            </a:r>
          </a:p>
          <a:p>
            <a:r>
              <a:rPr lang="uk-UA" sz="2400" dirty="0" smtClean="0"/>
              <a:t>	Найпоширеніший </a:t>
            </a:r>
            <a:r>
              <a:rPr lang="uk-UA" sz="2400" dirty="0"/>
              <a:t>випадок повторного використання коду — бібліотеки програм. Бібліотеки надають загальну достатньо універсальну функціональність, яка покриває обрану предметну </a:t>
            </a:r>
            <a:r>
              <a:rPr lang="uk-UA" sz="2400" dirty="0" smtClean="0"/>
              <a:t>область.</a:t>
            </a:r>
            <a:endParaRPr lang="uk-UA" sz="2400" dirty="0"/>
          </a:p>
        </p:txBody>
      </p:sp>
    </p:spTree>
    <p:extLst>
      <p:ext uri="{BB962C8B-B14F-4D97-AF65-F5344CB8AC3E}">
        <p14:creationId xmlns:p14="http://schemas.microsoft.com/office/powerpoint/2010/main" val="14820748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66802" y="862561"/>
            <a:ext cx="9609668" cy="440459"/>
          </a:xfrm>
        </p:spPr>
        <p:txBody>
          <a:bodyPr>
            <a:normAutofit fontScale="90000"/>
          </a:bodyPr>
          <a:lstStyle/>
          <a:p>
            <a:pPr algn="ctr"/>
            <a:r>
              <a:rPr lang="uk-UA" b="1" i="1" dirty="0"/>
              <a:t>Якість </a:t>
            </a:r>
            <a:r>
              <a:rPr lang="uk-UA" b="1" dirty="0"/>
              <a:t>програмного забезпечення</a:t>
            </a:r>
            <a:endParaRPr lang="uk-UA" b="1" dirty="0"/>
          </a:p>
        </p:txBody>
      </p:sp>
      <p:sp>
        <p:nvSpPr>
          <p:cNvPr id="3" name="Текст 2"/>
          <p:cNvSpPr>
            <a:spLocks noGrp="1"/>
          </p:cNvSpPr>
          <p:nvPr>
            <p:ph type="body" idx="1"/>
          </p:nvPr>
        </p:nvSpPr>
        <p:spPr>
          <a:xfrm>
            <a:off x="1066802" y="1455420"/>
            <a:ext cx="9609668" cy="4457700"/>
          </a:xfrm>
        </p:spPr>
        <p:txBody>
          <a:bodyPr>
            <a:normAutofit/>
          </a:bodyPr>
          <a:lstStyle/>
          <a:p>
            <a:pPr marL="625475"/>
            <a:r>
              <a:rPr lang="uk-UA" sz="3200" b="1" i="1" dirty="0"/>
              <a:t>Якість – це придатність до використання</a:t>
            </a:r>
            <a:r>
              <a:rPr lang="uk-UA" sz="3200" b="1" dirty="0" smtClean="0"/>
              <a:t>.</a:t>
            </a:r>
          </a:p>
          <a:p>
            <a:pPr marL="625475"/>
            <a:r>
              <a:rPr lang="uk-UA" sz="3200" b="1" i="1" dirty="0"/>
              <a:t>Якість – це відповідність специфікованим і забраним вимогам</a:t>
            </a:r>
            <a:r>
              <a:rPr lang="uk-UA" sz="3200" b="1" i="1" dirty="0" smtClean="0"/>
              <a:t>.</a:t>
            </a:r>
          </a:p>
          <a:p>
            <a:r>
              <a:rPr lang="uk-UA" sz="3200" dirty="0"/>
              <a:t>Стандарт ISO 9126 пропонує використовувати для опису внутрішнього та зовнішнього якості ПЗ багаторівневу модель. На верхньому рівні виділено 6 основних характеристик якості ПЗ.</a:t>
            </a:r>
            <a:endParaRPr lang="uk-UA" sz="3200" b="1" dirty="0"/>
          </a:p>
        </p:txBody>
      </p:sp>
    </p:spTree>
    <p:extLst>
      <p:ext uri="{BB962C8B-B14F-4D97-AF65-F5344CB8AC3E}">
        <p14:creationId xmlns:p14="http://schemas.microsoft.com/office/powerpoint/2010/main" val="3182303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36322" y="694921"/>
            <a:ext cx="9609668" cy="371879"/>
          </a:xfrm>
        </p:spPr>
        <p:txBody>
          <a:bodyPr>
            <a:normAutofit fontScale="90000"/>
          </a:bodyPr>
          <a:lstStyle/>
          <a:p>
            <a:pPr algn="ctr"/>
            <a:r>
              <a:rPr lang="uk-UA" b="1" dirty="0"/>
              <a:t>Функціональність</a:t>
            </a:r>
            <a:endParaRPr lang="uk-UA" dirty="0"/>
          </a:p>
        </p:txBody>
      </p:sp>
      <p:sp>
        <p:nvSpPr>
          <p:cNvPr id="3" name="Текст 2"/>
          <p:cNvSpPr>
            <a:spLocks noGrp="1"/>
          </p:cNvSpPr>
          <p:nvPr>
            <p:ph type="body" idx="1"/>
          </p:nvPr>
        </p:nvSpPr>
        <p:spPr>
          <a:xfrm>
            <a:off x="1295401" y="1203960"/>
            <a:ext cx="9609668" cy="4648200"/>
          </a:xfrm>
        </p:spPr>
        <p:txBody>
          <a:bodyPr/>
          <a:lstStyle/>
          <a:p>
            <a:pPr lvl="0"/>
            <a:r>
              <a:rPr lang="uk-UA" b="1" dirty="0"/>
              <a:t>Функціональність (</a:t>
            </a:r>
            <a:r>
              <a:rPr lang="uk-UA" b="1" dirty="0" err="1"/>
              <a:t>functionality</a:t>
            </a:r>
            <a:r>
              <a:rPr lang="uk-UA" b="1" dirty="0"/>
              <a:t>)</a:t>
            </a:r>
            <a:r>
              <a:rPr lang="uk-UA" dirty="0"/>
              <a:t>. Здатність ПЗ в певних умовах вирішувати задачі, потрібні користувачам. Визначає, що саме робить ПЗ, які задачі воно вирішує. </a:t>
            </a:r>
          </a:p>
          <a:p>
            <a:pPr lvl="1"/>
            <a:r>
              <a:rPr lang="uk-UA" sz="2000" i="1" dirty="0"/>
              <a:t>Функціональна придатність</a:t>
            </a:r>
            <a:r>
              <a:rPr lang="uk-UA" sz="2000" dirty="0"/>
              <a:t> (</a:t>
            </a:r>
            <a:r>
              <a:rPr lang="uk-UA" sz="2000" dirty="0" err="1"/>
              <a:t>suitability</a:t>
            </a:r>
            <a:r>
              <a:rPr lang="uk-UA" sz="2000" dirty="0"/>
              <a:t>). Здатність вирішувати потрібний набір задач.</a:t>
            </a:r>
          </a:p>
          <a:p>
            <a:pPr lvl="1"/>
            <a:r>
              <a:rPr lang="uk-UA" sz="2000" i="1" dirty="0"/>
              <a:t>Точність</a:t>
            </a:r>
            <a:r>
              <a:rPr lang="uk-UA" sz="2000" dirty="0"/>
              <a:t> (</a:t>
            </a:r>
            <a:r>
              <a:rPr lang="uk-UA" sz="2000" dirty="0" err="1"/>
              <a:t>accuracy</a:t>
            </a:r>
            <a:r>
              <a:rPr lang="uk-UA" sz="2000" dirty="0"/>
              <a:t>). Здатність видавати потрібні результати.</a:t>
            </a:r>
          </a:p>
          <a:p>
            <a:pPr lvl="1"/>
            <a:r>
              <a:rPr lang="uk-UA" sz="2000" i="1" dirty="0"/>
              <a:t>Здатність до взаємодії</a:t>
            </a:r>
            <a:r>
              <a:rPr lang="uk-UA" sz="2000" dirty="0"/>
              <a:t> (</a:t>
            </a:r>
            <a:r>
              <a:rPr lang="uk-UA" sz="2000" dirty="0" err="1"/>
              <a:t>interoperability</a:t>
            </a:r>
            <a:r>
              <a:rPr lang="uk-UA" sz="2000" dirty="0"/>
              <a:t>). Здатність взаємодіяти з потрібним набором інших систем.</a:t>
            </a:r>
          </a:p>
          <a:p>
            <a:pPr lvl="1"/>
            <a:r>
              <a:rPr lang="uk-UA" sz="2000" i="1" dirty="0"/>
              <a:t>Відповідність стандартам і правилам </a:t>
            </a:r>
            <a:r>
              <a:rPr lang="uk-UA" sz="2000" dirty="0"/>
              <a:t>(</a:t>
            </a:r>
            <a:r>
              <a:rPr lang="uk-UA" sz="2000" dirty="0" err="1"/>
              <a:t>compliance</a:t>
            </a:r>
            <a:r>
              <a:rPr lang="uk-UA" sz="2000" dirty="0"/>
              <a:t>). Відповідність ПЗ наявним індустріальним стандартам, нормативним і законодавчим актам, іншим регулюючим нормам.</a:t>
            </a:r>
          </a:p>
          <a:p>
            <a:pPr lvl="1"/>
            <a:r>
              <a:rPr lang="uk-UA" sz="2000" i="1" dirty="0"/>
              <a:t>Захищеність </a:t>
            </a:r>
            <a:r>
              <a:rPr lang="uk-UA" sz="2000" dirty="0"/>
              <a:t>(</a:t>
            </a:r>
            <a:r>
              <a:rPr lang="uk-UA" sz="2000" dirty="0" err="1"/>
              <a:t>security</a:t>
            </a:r>
            <a:r>
              <a:rPr lang="uk-UA" sz="2000" dirty="0"/>
              <a:t>). Здатність запобігати неавторизованому, тобто без вказівки особи, що намагається його здійснити, і недозволеному доступу до даних і програм.</a:t>
            </a:r>
          </a:p>
          <a:p>
            <a:endParaRPr lang="uk-UA" dirty="0"/>
          </a:p>
        </p:txBody>
      </p:sp>
    </p:spTree>
    <p:extLst>
      <p:ext uri="{BB962C8B-B14F-4D97-AF65-F5344CB8AC3E}">
        <p14:creationId xmlns:p14="http://schemas.microsoft.com/office/powerpoint/2010/main" val="4240668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725401"/>
            <a:ext cx="9609668" cy="448079"/>
          </a:xfrm>
        </p:spPr>
        <p:txBody>
          <a:bodyPr>
            <a:normAutofit fontScale="90000"/>
          </a:bodyPr>
          <a:lstStyle/>
          <a:p>
            <a:pPr algn="ctr"/>
            <a:r>
              <a:rPr lang="uk-UA" b="1" dirty="0"/>
              <a:t>Надійність</a:t>
            </a:r>
            <a:endParaRPr lang="uk-UA" dirty="0"/>
          </a:p>
        </p:txBody>
      </p:sp>
      <p:sp>
        <p:nvSpPr>
          <p:cNvPr id="3" name="Текст 2"/>
          <p:cNvSpPr>
            <a:spLocks noGrp="1"/>
          </p:cNvSpPr>
          <p:nvPr>
            <p:ph type="body" idx="1"/>
          </p:nvPr>
        </p:nvSpPr>
        <p:spPr>
          <a:xfrm>
            <a:off x="1295401" y="1264920"/>
            <a:ext cx="9609668" cy="4372861"/>
          </a:xfrm>
        </p:spPr>
        <p:txBody>
          <a:bodyPr/>
          <a:lstStyle/>
          <a:p>
            <a:pPr lvl="0"/>
            <a:r>
              <a:rPr lang="uk-UA" b="1" dirty="0"/>
              <a:t>Надійність (</a:t>
            </a:r>
            <a:r>
              <a:rPr lang="uk-UA" b="1" dirty="0" err="1"/>
              <a:t>reliability</a:t>
            </a:r>
            <a:r>
              <a:rPr lang="uk-UA" b="1" dirty="0"/>
              <a:t>)</a:t>
            </a:r>
            <a:r>
              <a:rPr lang="uk-UA" dirty="0"/>
              <a:t>. Здатність ПЗ підтримувати визначену працездатність у заданих умовах. </a:t>
            </a:r>
          </a:p>
          <a:p>
            <a:pPr lvl="1"/>
            <a:r>
              <a:rPr lang="uk-UA" sz="2000" i="1" dirty="0"/>
              <a:t>Зрілість, завершеність</a:t>
            </a:r>
            <a:r>
              <a:rPr lang="uk-UA" sz="2000" dirty="0"/>
              <a:t> (</a:t>
            </a:r>
            <a:r>
              <a:rPr lang="uk-UA" sz="2000" dirty="0" err="1"/>
              <a:t>maturity</a:t>
            </a:r>
            <a:r>
              <a:rPr lang="uk-UA" sz="2000" dirty="0"/>
              <a:t>). Величина, зворотна частоті відмов ПЗ. Звичайно виміряється середнім часом роботи без збоїв і величиною, зворотною імовірності виникнення відмови за даний період часу.</a:t>
            </a:r>
          </a:p>
          <a:p>
            <a:pPr lvl="1"/>
            <a:r>
              <a:rPr lang="uk-UA" sz="2000" i="1" dirty="0"/>
              <a:t>Стійкість до відмов</a:t>
            </a:r>
            <a:r>
              <a:rPr lang="uk-UA" sz="2000" dirty="0"/>
              <a:t> (</a:t>
            </a:r>
            <a:r>
              <a:rPr lang="uk-UA" sz="2000" dirty="0" err="1"/>
              <a:t>fault</a:t>
            </a:r>
            <a:r>
              <a:rPr lang="uk-UA" sz="2000" dirty="0"/>
              <a:t> </a:t>
            </a:r>
            <a:r>
              <a:rPr lang="uk-UA" sz="2000" dirty="0" err="1"/>
              <a:t>tolerance</a:t>
            </a:r>
            <a:r>
              <a:rPr lang="uk-UA" sz="2000" dirty="0"/>
              <a:t>). Здатність підтримувати заданий рівень працездатності при відмовах і порушеннях правил взаємодії з середовищем.</a:t>
            </a:r>
          </a:p>
          <a:p>
            <a:pPr lvl="1"/>
            <a:r>
              <a:rPr lang="uk-UA" sz="2000" i="1" dirty="0"/>
              <a:t>Здатність до відновлення</a:t>
            </a:r>
            <a:r>
              <a:rPr lang="uk-UA" sz="2000" dirty="0"/>
              <a:t> (</a:t>
            </a:r>
            <a:r>
              <a:rPr lang="uk-UA" sz="2000" dirty="0" err="1"/>
              <a:t>recoverability</a:t>
            </a:r>
            <a:r>
              <a:rPr lang="uk-UA" sz="2000" dirty="0"/>
              <a:t>). Здатність відновлювати визначений рівень працездатності та цілісність даних після відмови, необхідні для цього час і ресурси.</a:t>
            </a:r>
          </a:p>
          <a:p>
            <a:pPr lvl="1"/>
            <a:r>
              <a:rPr lang="uk-UA" sz="2000" i="1" dirty="0"/>
              <a:t>Відповідність стандартам надійності</a:t>
            </a:r>
            <a:r>
              <a:rPr lang="uk-UA" sz="2000" dirty="0"/>
              <a:t> (</a:t>
            </a:r>
            <a:r>
              <a:rPr lang="uk-UA" sz="2000" dirty="0" err="1"/>
              <a:t>reliability</a:t>
            </a:r>
            <a:r>
              <a:rPr lang="uk-UA" sz="2000" dirty="0"/>
              <a:t> </a:t>
            </a:r>
            <a:r>
              <a:rPr lang="uk-UA" sz="2000" dirty="0" err="1"/>
              <a:t>compliance</a:t>
            </a:r>
            <a:r>
              <a:rPr lang="uk-UA" sz="2000" dirty="0"/>
              <a:t>). </a:t>
            </a:r>
          </a:p>
          <a:p>
            <a:endParaRPr lang="uk-UA" dirty="0"/>
          </a:p>
        </p:txBody>
      </p:sp>
    </p:spTree>
    <p:extLst>
      <p:ext uri="{BB962C8B-B14F-4D97-AF65-F5344CB8AC3E}">
        <p14:creationId xmlns:p14="http://schemas.microsoft.com/office/powerpoint/2010/main" val="20088448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01142" y="793981"/>
            <a:ext cx="9609668" cy="432839"/>
          </a:xfrm>
        </p:spPr>
        <p:txBody>
          <a:bodyPr>
            <a:normAutofit fontScale="90000"/>
          </a:bodyPr>
          <a:lstStyle/>
          <a:p>
            <a:pPr algn="ctr"/>
            <a:r>
              <a:rPr lang="uk-UA" b="1" dirty="0"/>
              <a:t>Зручність використання</a:t>
            </a:r>
            <a:endParaRPr lang="uk-UA" dirty="0"/>
          </a:p>
        </p:txBody>
      </p:sp>
      <p:sp>
        <p:nvSpPr>
          <p:cNvPr id="3" name="Текст 2"/>
          <p:cNvSpPr>
            <a:spLocks noGrp="1"/>
          </p:cNvSpPr>
          <p:nvPr>
            <p:ph type="body" idx="1"/>
          </p:nvPr>
        </p:nvSpPr>
        <p:spPr>
          <a:xfrm>
            <a:off x="1501142" y="1295400"/>
            <a:ext cx="9609668" cy="4281421"/>
          </a:xfrm>
        </p:spPr>
        <p:txBody>
          <a:bodyPr/>
          <a:lstStyle/>
          <a:p>
            <a:pPr lvl="0"/>
            <a:r>
              <a:rPr lang="uk-UA" b="1" dirty="0"/>
              <a:t>Зручність використання (</a:t>
            </a:r>
            <a:r>
              <a:rPr lang="uk-UA" b="1" dirty="0" err="1"/>
              <a:t>usability</a:t>
            </a:r>
            <a:r>
              <a:rPr lang="uk-UA" b="1" dirty="0"/>
              <a:t>) або практичність</a:t>
            </a:r>
            <a:r>
              <a:rPr lang="uk-UA" dirty="0"/>
              <a:t>. Здатність ПЗ бути зручним у навчанні та використанні, а також привабливим для користувачів. </a:t>
            </a:r>
            <a:endParaRPr lang="uk-UA" sz="1600" dirty="0"/>
          </a:p>
          <a:p>
            <a:pPr lvl="1"/>
            <a:r>
              <a:rPr lang="uk-UA" i="1" dirty="0">
                <a:solidFill>
                  <a:schemeClr val="tx1"/>
                </a:solidFill>
              </a:rPr>
              <a:t>Зрозумілість</a:t>
            </a:r>
            <a:r>
              <a:rPr lang="uk-UA" dirty="0">
                <a:solidFill>
                  <a:schemeClr val="tx1"/>
                </a:solidFill>
              </a:rPr>
              <a:t> (</a:t>
            </a:r>
            <a:r>
              <a:rPr lang="uk-UA" dirty="0" err="1">
                <a:solidFill>
                  <a:schemeClr val="tx1"/>
                </a:solidFill>
              </a:rPr>
              <a:t>understandability</a:t>
            </a:r>
            <a:r>
              <a:rPr lang="uk-UA" dirty="0">
                <a:solidFill>
                  <a:schemeClr val="tx1"/>
                </a:solidFill>
              </a:rPr>
              <a:t>). Показник, зворотний до зусиль, які затрачаються користувачами на сприйняття основних понять ПЗ та усвідомлення їх застосовності для розв'язання своїх задач.</a:t>
            </a:r>
          </a:p>
          <a:p>
            <a:pPr lvl="1"/>
            <a:r>
              <a:rPr lang="uk-UA" i="1" dirty="0">
                <a:solidFill>
                  <a:schemeClr val="tx1"/>
                </a:solidFill>
              </a:rPr>
              <a:t>Зручність навчання </a:t>
            </a:r>
            <a:r>
              <a:rPr lang="uk-UA" dirty="0">
                <a:solidFill>
                  <a:schemeClr val="tx1"/>
                </a:solidFill>
              </a:rPr>
              <a:t>(</a:t>
            </a:r>
            <a:r>
              <a:rPr lang="uk-UA" dirty="0" err="1">
                <a:solidFill>
                  <a:schemeClr val="tx1"/>
                </a:solidFill>
              </a:rPr>
              <a:t>learnability</a:t>
            </a:r>
            <a:r>
              <a:rPr lang="uk-UA" dirty="0">
                <a:solidFill>
                  <a:schemeClr val="tx1"/>
                </a:solidFill>
              </a:rPr>
              <a:t>). Показник, зворотний зусиллям, затрачуваним користувачами на навчання роботі з ПЗ.</a:t>
            </a:r>
          </a:p>
          <a:p>
            <a:pPr lvl="1"/>
            <a:r>
              <a:rPr lang="uk-UA" i="1" dirty="0">
                <a:solidFill>
                  <a:schemeClr val="tx1"/>
                </a:solidFill>
              </a:rPr>
              <a:t>Зручність роботи </a:t>
            </a:r>
            <a:r>
              <a:rPr lang="uk-UA" dirty="0">
                <a:solidFill>
                  <a:schemeClr val="tx1"/>
                </a:solidFill>
              </a:rPr>
              <a:t>(</a:t>
            </a:r>
            <a:r>
              <a:rPr lang="uk-UA" dirty="0" err="1">
                <a:solidFill>
                  <a:schemeClr val="tx1"/>
                </a:solidFill>
              </a:rPr>
              <a:t>operability</a:t>
            </a:r>
            <a:r>
              <a:rPr lang="uk-UA" dirty="0">
                <a:solidFill>
                  <a:schemeClr val="tx1"/>
                </a:solidFill>
              </a:rPr>
              <a:t>). Показник, зворотний зусиллям, що вживається користувачами для розв'язання своїх задач за допомогою ПЗ.</a:t>
            </a:r>
          </a:p>
          <a:p>
            <a:pPr lvl="1"/>
            <a:r>
              <a:rPr lang="uk-UA" i="1" dirty="0">
                <a:solidFill>
                  <a:schemeClr val="tx1"/>
                </a:solidFill>
              </a:rPr>
              <a:t>Привабливість</a:t>
            </a:r>
            <a:r>
              <a:rPr lang="uk-UA" dirty="0">
                <a:solidFill>
                  <a:schemeClr val="tx1"/>
                </a:solidFill>
              </a:rPr>
              <a:t> (</a:t>
            </a:r>
            <a:r>
              <a:rPr lang="uk-UA" dirty="0" err="1">
                <a:solidFill>
                  <a:schemeClr val="tx1"/>
                </a:solidFill>
              </a:rPr>
              <a:t>attractiveness</a:t>
            </a:r>
            <a:r>
              <a:rPr lang="uk-UA" dirty="0">
                <a:solidFill>
                  <a:schemeClr val="tx1"/>
                </a:solidFill>
              </a:rPr>
              <a:t>). Здатність ПЗ бути привабливим для користувачів. </a:t>
            </a:r>
          </a:p>
          <a:p>
            <a:pPr lvl="1"/>
            <a:r>
              <a:rPr lang="uk-UA" dirty="0">
                <a:solidFill>
                  <a:schemeClr val="tx1"/>
                </a:solidFill>
              </a:rPr>
              <a:t>Відповідність стандартам зручності використання (</a:t>
            </a:r>
            <a:r>
              <a:rPr lang="uk-UA" dirty="0" err="1">
                <a:solidFill>
                  <a:schemeClr val="tx1"/>
                </a:solidFill>
              </a:rPr>
              <a:t>usability</a:t>
            </a:r>
            <a:r>
              <a:rPr lang="uk-UA" dirty="0">
                <a:solidFill>
                  <a:schemeClr val="tx1"/>
                </a:solidFill>
              </a:rPr>
              <a:t> </a:t>
            </a:r>
            <a:r>
              <a:rPr lang="uk-UA" dirty="0" err="1">
                <a:solidFill>
                  <a:schemeClr val="tx1"/>
                </a:solidFill>
              </a:rPr>
              <a:t>compliance</a:t>
            </a:r>
            <a:r>
              <a:rPr lang="uk-UA" dirty="0">
                <a:solidFill>
                  <a:schemeClr val="tx1"/>
                </a:solidFill>
              </a:rPr>
              <a:t>). </a:t>
            </a:r>
          </a:p>
          <a:p>
            <a:endParaRPr lang="uk-UA" dirty="0"/>
          </a:p>
        </p:txBody>
      </p:sp>
    </p:spTree>
    <p:extLst>
      <p:ext uri="{BB962C8B-B14F-4D97-AF65-F5344CB8AC3E}">
        <p14:creationId xmlns:p14="http://schemas.microsoft.com/office/powerpoint/2010/main" val="23414935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740641"/>
            <a:ext cx="9609668" cy="509039"/>
          </a:xfrm>
        </p:spPr>
        <p:txBody>
          <a:bodyPr>
            <a:normAutofit fontScale="90000"/>
          </a:bodyPr>
          <a:lstStyle/>
          <a:p>
            <a:pPr algn="ctr"/>
            <a:r>
              <a:rPr lang="uk-UA" b="1" dirty="0"/>
              <a:t>Продуктивність</a:t>
            </a:r>
            <a:endParaRPr lang="uk-UA" dirty="0"/>
          </a:p>
        </p:txBody>
      </p:sp>
      <p:sp>
        <p:nvSpPr>
          <p:cNvPr id="3" name="Текст 2"/>
          <p:cNvSpPr>
            <a:spLocks noGrp="1"/>
          </p:cNvSpPr>
          <p:nvPr>
            <p:ph type="body" idx="1"/>
          </p:nvPr>
        </p:nvSpPr>
        <p:spPr>
          <a:xfrm>
            <a:off x="1295401" y="1440180"/>
            <a:ext cx="9609668" cy="4197601"/>
          </a:xfrm>
        </p:spPr>
        <p:txBody>
          <a:bodyPr>
            <a:normAutofit/>
          </a:bodyPr>
          <a:lstStyle/>
          <a:p>
            <a:pPr lvl="0"/>
            <a:r>
              <a:rPr lang="uk-UA" b="1" dirty="0"/>
              <a:t>Продуктивність (</a:t>
            </a:r>
            <a:r>
              <a:rPr lang="uk-UA" b="1" dirty="0" err="1"/>
              <a:t>efficiency</a:t>
            </a:r>
            <a:r>
              <a:rPr lang="uk-UA" b="1" dirty="0"/>
              <a:t>) або ефективність</a:t>
            </a:r>
            <a:r>
              <a:rPr lang="uk-UA" dirty="0"/>
              <a:t>. Здатність ПЗ при заданих умовах забезпечувати необхідну працездатність стосовно виділюваного для цього ресурсам. Можна визначити її і як відношення одержуваних за допомогою ПЗ результатів до затрачуваних на це ресурсів усіх типів. </a:t>
            </a:r>
          </a:p>
          <a:p>
            <a:pPr lvl="1"/>
            <a:r>
              <a:rPr lang="uk-UA" sz="2000" i="1" dirty="0"/>
              <a:t>Часова ефективність</a:t>
            </a:r>
            <a:r>
              <a:rPr lang="uk-UA" sz="2000" dirty="0"/>
              <a:t> (</a:t>
            </a:r>
            <a:r>
              <a:rPr lang="uk-UA" sz="2000" dirty="0" err="1"/>
              <a:t>time</a:t>
            </a:r>
            <a:r>
              <a:rPr lang="uk-UA" sz="2000" dirty="0"/>
              <a:t> </a:t>
            </a:r>
            <a:r>
              <a:rPr lang="uk-UA" sz="2000" dirty="0" err="1"/>
              <a:t>behaviour</a:t>
            </a:r>
            <a:r>
              <a:rPr lang="uk-UA" sz="2000" dirty="0"/>
              <a:t>). Здатність ПЗ видавати очікувані результати, а також забезпечувати передачу необхідного об'єму даних за відведений час.</a:t>
            </a:r>
          </a:p>
          <a:p>
            <a:pPr lvl="1"/>
            <a:r>
              <a:rPr lang="uk-UA" sz="2000" i="1" dirty="0"/>
              <a:t>Ефективність використання ресурсів</a:t>
            </a:r>
            <a:r>
              <a:rPr lang="uk-UA" sz="2000" dirty="0"/>
              <a:t> (</a:t>
            </a:r>
            <a:r>
              <a:rPr lang="uk-UA" sz="2000" dirty="0" err="1"/>
              <a:t>resource</a:t>
            </a:r>
            <a:r>
              <a:rPr lang="uk-UA" sz="2000" dirty="0"/>
              <a:t> </a:t>
            </a:r>
            <a:r>
              <a:rPr lang="uk-UA" sz="2000" dirty="0" err="1"/>
              <a:t>utilisation</a:t>
            </a:r>
            <a:r>
              <a:rPr lang="uk-UA" sz="2000" dirty="0"/>
              <a:t>). Здатність вирішувати потрібні задачі з використанням визначених об'ємів ресурсів визначених видів. Маються на увазі такі ресурси, як оперативна й довгострокова пам'ять, мережні з'єднання, пристрої вводу та виводу та ін.</a:t>
            </a:r>
          </a:p>
          <a:p>
            <a:r>
              <a:rPr lang="uk-UA" i="1" dirty="0"/>
              <a:t>Відповідність стандартам продуктивності</a:t>
            </a:r>
            <a:r>
              <a:rPr lang="uk-UA" dirty="0"/>
              <a:t> (</a:t>
            </a:r>
            <a:r>
              <a:rPr lang="uk-UA" dirty="0" err="1"/>
              <a:t>efficiency</a:t>
            </a:r>
            <a:r>
              <a:rPr lang="uk-UA" dirty="0"/>
              <a:t> </a:t>
            </a:r>
            <a:r>
              <a:rPr lang="uk-UA" dirty="0" err="1"/>
              <a:t>compliance</a:t>
            </a:r>
            <a:r>
              <a:rPr lang="uk-UA" dirty="0"/>
              <a:t>).</a:t>
            </a:r>
            <a:endParaRPr lang="uk-UA" dirty="0"/>
          </a:p>
        </p:txBody>
      </p:sp>
    </p:spTree>
    <p:extLst>
      <p:ext uri="{BB962C8B-B14F-4D97-AF65-F5344CB8AC3E}">
        <p14:creationId xmlns:p14="http://schemas.microsoft.com/office/powerpoint/2010/main" val="1086699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778741"/>
            <a:ext cx="9609668" cy="531899"/>
          </a:xfrm>
        </p:spPr>
        <p:txBody>
          <a:bodyPr>
            <a:normAutofit fontScale="90000"/>
          </a:bodyPr>
          <a:lstStyle/>
          <a:p>
            <a:pPr algn="ctr"/>
            <a:r>
              <a:rPr lang="uk-UA" b="1" dirty="0"/>
              <a:t>Зручність супроводу</a:t>
            </a:r>
            <a:endParaRPr lang="uk-UA" dirty="0"/>
          </a:p>
        </p:txBody>
      </p:sp>
      <p:sp>
        <p:nvSpPr>
          <p:cNvPr id="3" name="Текст 2"/>
          <p:cNvSpPr>
            <a:spLocks noGrp="1"/>
          </p:cNvSpPr>
          <p:nvPr>
            <p:ph type="body" idx="1"/>
          </p:nvPr>
        </p:nvSpPr>
        <p:spPr>
          <a:xfrm>
            <a:off x="1295401" y="1447800"/>
            <a:ext cx="9609668" cy="4189981"/>
          </a:xfrm>
        </p:spPr>
        <p:txBody>
          <a:bodyPr/>
          <a:lstStyle/>
          <a:p>
            <a:pPr lvl="0"/>
            <a:r>
              <a:rPr lang="uk-UA" b="1" dirty="0"/>
              <a:t>Зручність супроводу (</a:t>
            </a:r>
            <a:r>
              <a:rPr lang="uk-UA" b="1" dirty="0" err="1"/>
              <a:t>maintainability</a:t>
            </a:r>
            <a:r>
              <a:rPr lang="uk-UA" b="1" dirty="0"/>
              <a:t>)</a:t>
            </a:r>
            <a:r>
              <a:rPr lang="uk-UA" dirty="0"/>
              <a:t>. Зручність проведення всіх видів діяльності, пов'язаних із супроводом програм. </a:t>
            </a:r>
            <a:endParaRPr lang="uk-UA" sz="1600" dirty="0"/>
          </a:p>
          <a:p>
            <a:pPr lvl="1"/>
            <a:r>
              <a:rPr lang="uk-UA" i="1" dirty="0" err="1"/>
              <a:t>Аналізованість</a:t>
            </a:r>
            <a:r>
              <a:rPr lang="uk-UA" i="1" dirty="0"/>
              <a:t> </a:t>
            </a:r>
            <a:r>
              <a:rPr lang="uk-UA" dirty="0"/>
              <a:t>(</a:t>
            </a:r>
            <a:r>
              <a:rPr lang="uk-UA" dirty="0" err="1"/>
              <a:t>analyzability</a:t>
            </a:r>
            <a:r>
              <a:rPr lang="uk-UA" dirty="0"/>
              <a:t>) або зручність проведення аналізу. Зручність проведення аналізу помилок, дефектів і недоліків, а також зручність аналізу необхідності змін і їх можливих наслідків.</a:t>
            </a:r>
            <a:endParaRPr lang="uk-UA" sz="1400" dirty="0"/>
          </a:p>
          <a:p>
            <a:pPr lvl="1"/>
            <a:r>
              <a:rPr lang="uk-UA" i="1" dirty="0"/>
              <a:t>Зручність внесення змін</a:t>
            </a:r>
            <a:r>
              <a:rPr lang="uk-UA" dirty="0"/>
              <a:t> (</a:t>
            </a:r>
            <a:r>
              <a:rPr lang="uk-UA" dirty="0" err="1"/>
              <a:t>changeability</a:t>
            </a:r>
            <a:r>
              <a:rPr lang="uk-UA" dirty="0"/>
              <a:t>). Показник, зворотний трудовитратам на виконання необхідних змін.</a:t>
            </a:r>
            <a:endParaRPr lang="uk-UA" sz="1400" dirty="0"/>
          </a:p>
          <a:p>
            <a:pPr lvl="1"/>
            <a:r>
              <a:rPr lang="uk-UA" i="1" dirty="0"/>
              <a:t>Стабільність</a:t>
            </a:r>
            <a:r>
              <a:rPr lang="uk-UA" dirty="0"/>
              <a:t> (</a:t>
            </a:r>
            <a:r>
              <a:rPr lang="uk-UA" dirty="0" err="1"/>
              <a:t>stability</a:t>
            </a:r>
            <a:r>
              <a:rPr lang="uk-UA" dirty="0"/>
              <a:t>). Показник, зворотний ризику виникнення несподіваних ефектів при внесенні необхідних змін.</a:t>
            </a:r>
            <a:endParaRPr lang="uk-UA" sz="1400" dirty="0"/>
          </a:p>
          <a:p>
            <a:pPr lvl="1"/>
            <a:r>
              <a:rPr lang="uk-UA" i="1" dirty="0"/>
              <a:t>Зручність перевірки</a:t>
            </a:r>
            <a:r>
              <a:rPr lang="uk-UA" dirty="0"/>
              <a:t> (</a:t>
            </a:r>
            <a:r>
              <a:rPr lang="uk-UA" dirty="0" err="1"/>
              <a:t>testability</a:t>
            </a:r>
            <a:r>
              <a:rPr lang="uk-UA" dirty="0"/>
              <a:t>). Показник, зворотний трудовитратам на проведення тестування і інших видів перевірки того, що внесені зміни привели до потрібних результатів.</a:t>
            </a:r>
            <a:endParaRPr lang="uk-UA" sz="1400" dirty="0"/>
          </a:p>
          <a:p>
            <a:r>
              <a:rPr lang="uk-UA" i="1" dirty="0"/>
              <a:t>Відповідність стандартам зручності супроводу</a:t>
            </a:r>
            <a:r>
              <a:rPr lang="uk-UA" dirty="0"/>
              <a:t> (</a:t>
            </a:r>
            <a:r>
              <a:rPr lang="uk-UA" dirty="0" err="1"/>
              <a:t>maintainability</a:t>
            </a:r>
            <a:r>
              <a:rPr lang="uk-UA" dirty="0"/>
              <a:t> </a:t>
            </a:r>
            <a:r>
              <a:rPr lang="uk-UA" dirty="0" err="1"/>
              <a:t>compliance</a:t>
            </a:r>
            <a:r>
              <a:rPr lang="uk-UA" dirty="0"/>
              <a:t>).</a:t>
            </a:r>
            <a:endParaRPr lang="uk-UA" dirty="0"/>
          </a:p>
        </p:txBody>
      </p:sp>
    </p:spTree>
    <p:extLst>
      <p:ext uri="{BB962C8B-B14F-4D97-AF65-F5344CB8AC3E}">
        <p14:creationId xmlns:p14="http://schemas.microsoft.com/office/powerpoint/2010/main" val="11895293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455422" y="763501"/>
            <a:ext cx="9609668" cy="623339"/>
          </a:xfrm>
        </p:spPr>
        <p:txBody>
          <a:bodyPr/>
          <a:lstStyle/>
          <a:p>
            <a:pPr algn="ctr"/>
            <a:r>
              <a:rPr lang="uk-UA" b="1" dirty="0" err="1"/>
              <a:t>Переносимість</a:t>
            </a:r>
            <a:endParaRPr lang="uk-UA" dirty="0"/>
          </a:p>
        </p:txBody>
      </p:sp>
      <p:sp>
        <p:nvSpPr>
          <p:cNvPr id="3" name="Текст 2"/>
          <p:cNvSpPr>
            <a:spLocks noGrp="1"/>
          </p:cNvSpPr>
          <p:nvPr>
            <p:ph type="body" idx="1"/>
          </p:nvPr>
        </p:nvSpPr>
        <p:spPr>
          <a:xfrm>
            <a:off x="1455422" y="1501140"/>
            <a:ext cx="9609668" cy="4197601"/>
          </a:xfrm>
        </p:spPr>
        <p:txBody>
          <a:bodyPr>
            <a:normAutofit lnSpcReduction="10000"/>
          </a:bodyPr>
          <a:lstStyle/>
          <a:p>
            <a:pPr lvl="0"/>
            <a:r>
              <a:rPr lang="uk-UA" b="1" dirty="0" err="1"/>
              <a:t>Переносимість</a:t>
            </a:r>
            <a:r>
              <a:rPr lang="uk-UA" b="1" dirty="0"/>
              <a:t> (</a:t>
            </a:r>
            <a:r>
              <a:rPr lang="uk-UA" b="1" dirty="0" err="1"/>
              <a:t>portability</a:t>
            </a:r>
            <a:r>
              <a:rPr lang="uk-UA" b="1" dirty="0"/>
              <a:t>)</a:t>
            </a:r>
            <a:r>
              <a:rPr lang="uk-UA" dirty="0"/>
              <a:t>. Здатність ПЗ зберігати працездатність при перенесенні з одного оточення в інше, включаючи організаційні, апаратні й програмні аспекти оточення. </a:t>
            </a:r>
            <a:endParaRPr lang="uk-UA" sz="1600" dirty="0"/>
          </a:p>
          <a:p>
            <a:pPr lvl="1"/>
            <a:r>
              <a:rPr lang="uk-UA" i="1" dirty="0"/>
              <a:t>Адаптованість</a:t>
            </a:r>
            <a:r>
              <a:rPr lang="uk-UA" dirty="0"/>
              <a:t> (</a:t>
            </a:r>
            <a:r>
              <a:rPr lang="uk-UA" dirty="0" err="1"/>
              <a:t>adaptability</a:t>
            </a:r>
            <a:r>
              <a:rPr lang="uk-UA" dirty="0"/>
              <a:t>). Здатність ПЗ пристосовуватися різним оточенням без проведення для цього дій, крім заздалегідь передбачених.</a:t>
            </a:r>
            <a:endParaRPr lang="uk-UA" sz="1400" dirty="0"/>
          </a:p>
          <a:p>
            <a:pPr lvl="1"/>
            <a:r>
              <a:rPr lang="uk-UA" i="1" dirty="0"/>
              <a:t>Зручність установки</a:t>
            </a:r>
            <a:r>
              <a:rPr lang="uk-UA" dirty="0"/>
              <a:t> (</a:t>
            </a:r>
            <a:r>
              <a:rPr lang="uk-UA" dirty="0" err="1"/>
              <a:t>installability</a:t>
            </a:r>
            <a:r>
              <a:rPr lang="uk-UA" dirty="0"/>
              <a:t>). Здатність ПЗ бути встановленим або розгорнутим у визначеному оточенні.</a:t>
            </a:r>
            <a:endParaRPr lang="uk-UA" sz="1400" dirty="0"/>
          </a:p>
          <a:p>
            <a:pPr lvl="1"/>
            <a:r>
              <a:rPr lang="uk-UA" i="1" dirty="0"/>
              <a:t>Здатність до співіснування</a:t>
            </a:r>
            <a:r>
              <a:rPr lang="uk-UA" dirty="0"/>
              <a:t> (</a:t>
            </a:r>
            <a:r>
              <a:rPr lang="uk-UA" dirty="0" err="1"/>
              <a:t>coexistence</a:t>
            </a:r>
            <a:r>
              <a:rPr lang="uk-UA" dirty="0"/>
              <a:t>). Здатність ПЗ співіснувати з іншими програмами у загальному оточенні, ділячи з ними ресурси.</a:t>
            </a:r>
            <a:endParaRPr lang="uk-UA" sz="1400" dirty="0"/>
          </a:p>
          <a:p>
            <a:pPr lvl="1"/>
            <a:r>
              <a:rPr lang="uk-UA" i="1" dirty="0"/>
              <a:t>Зручність заміни</a:t>
            </a:r>
            <a:r>
              <a:rPr lang="uk-UA" dirty="0"/>
              <a:t> (</a:t>
            </a:r>
            <a:r>
              <a:rPr lang="uk-UA" dirty="0" err="1"/>
              <a:t>replaceability</a:t>
            </a:r>
            <a:r>
              <a:rPr lang="uk-UA" dirty="0"/>
              <a:t>) іншого ПЗ даним. Можливість застосування даного ПЗ замість інших програмних систем для вирішення тих же задач у певному оточенні.</a:t>
            </a:r>
            <a:endParaRPr lang="uk-UA" sz="1400" dirty="0"/>
          </a:p>
          <a:p>
            <a:pPr lvl="1"/>
            <a:r>
              <a:rPr lang="uk-UA" i="1" dirty="0"/>
              <a:t>Відповідність стандартам </a:t>
            </a:r>
            <a:r>
              <a:rPr lang="uk-UA" i="1" dirty="0" err="1"/>
              <a:t>переносимості</a:t>
            </a:r>
            <a:r>
              <a:rPr lang="uk-UA" dirty="0"/>
              <a:t> (</a:t>
            </a:r>
            <a:r>
              <a:rPr lang="uk-UA" dirty="0" err="1"/>
              <a:t>portability</a:t>
            </a:r>
            <a:r>
              <a:rPr lang="uk-UA" dirty="0"/>
              <a:t> </a:t>
            </a:r>
            <a:r>
              <a:rPr lang="uk-UA" dirty="0" err="1"/>
              <a:t>compliance</a:t>
            </a:r>
            <a:r>
              <a:rPr lang="uk-UA" dirty="0"/>
              <a:t>). </a:t>
            </a:r>
            <a:endParaRPr lang="uk-UA" sz="1400" dirty="0"/>
          </a:p>
          <a:p>
            <a:endParaRPr lang="uk-UA" dirty="0"/>
          </a:p>
        </p:txBody>
      </p:sp>
    </p:spTree>
    <p:extLst>
      <p:ext uri="{BB962C8B-B14F-4D97-AF65-F5344CB8AC3E}">
        <p14:creationId xmlns:p14="http://schemas.microsoft.com/office/powerpoint/2010/main" val="22995414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06782" y="862561"/>
            <a:ext cx="9609668" cy="661439"/>
          </a:xfrm>
        </p:spPr>
        <p:txBody>
          <a:bodyPr/>
          <a:lstStyle/>
          <a:p>
            <a:pPr algn="ctr"/>
            <a:r>
              <a:rPr lang="uk-UA" b="1" i="1" dirty="0"/>
              <a:t>Інтеграція</a:t>
            </a:r>
            <a:endParaRPr lang="uk-UA" dirty="0"/>
          </a:p>
        </p:txBody>
      </p:sp>
      <p:sp>
        <p:nvSpPr>
          <p:cNvPr id="3" name="Текст 2"/>
          <p:cNvSpPr>
            <a:spLocks noGrp="1"/>
          </p:cNvSpPr>
          <p:nvPr>
            <p:ph type="body" idx="1"/>
          </p:nvPr>
        </p:nvSpPr>
        <p:spPr>
          <a:xfrm>
            <a:off x="906782" y="1752240"/>
            <a:ext cx="9609668" cy="4099919"/>
          </a:xfrm>
        </p:spPr>
        <p:txBody>
          <a:bodyPr>
            <a:normAutofit fontScale="85000" lnSpcReduction="10000"/>
          </a:bodyPr>
          <a:lstStyle/>
          <a:p>
            <a:r>
              <a:rPr lang="uk-UA" b="1" i="1" dirty="0"/>
              <a:t>Інтеграція </a:t>
            </a:r>
            <a:r>
              <a:rPr lang="uk-UA" dirty="0"/>
              <a:t> - це сукупність дій, щодо отримання комплексного вирішення низки інформаційних завдань, які спрямовані на отримання синергетичного ефекту. Є декілька складових системної інтеграції у цій сфері: </a:t>
            </a:r>
          </a:p>
          <a:p>
            <a:pPr lvl="0"/>
            <a:r>
              <a:rPr lang="uk-UA" i="1" dirty="0"/>
              <a:t>інтеграція програмних застосунків</a:t>
            </a:r>
            <a:r>
              <a:rPr lang="uk-UA" dirty="0"/>
              <a:t> — діяльність, пов'язана із впровадженням спеціалізованих програмних рішень (галузевих);</a:t>
            </a:r>
          </a:p>
          <a:p>
            <a:pPr lvl="0"/>
            <a:r>
              <a:rPr lang="uk-UA" i="1" dirty="0"/>
              <a:t>інтеграція даних</a:t>
            </a:r>
            <a:r>
              <a:rPr lang="uk-UA" dirty="0"/>
              <a:t> — діяльність, що має на меті оптимальну організацію бази даних, при якій реалізовано всі необхідні взаємозв'язки між елементами даних, але база не містить повторів і зайвих елементів (так як по мірі використання бази даних вона має тенденцію розосереджуватись)</a:t>
            </a:r>
          </a:p>
          <a:p>
            <a:pPr lvl="0"/>
            <a:r>
              <a:rPr lang="uk-UA" i="1" dirty="0"/>
              <a:t>мережева інтеграція</a:t>
            </a:r>
            <a:r>
              <a:rPr lang="uk-UA" dirty="0"/>
              <a:t> — діяльність, пов'язана із створення локальних і глобальних мереж, структурованих кабельних систем, впровадження </a:t>
            </a:r>
            <a:r>
              <a:rPr lang="uk-UA" u="dotted" dirty="0"/>
              <a:t>оптоволоконних</a:t>
            </a:r>
            <a:r>
              <a:rPr lang="uk-UA" dirty="0"/>
              <a:t> технологій передачі даних і </a:t>
            </a:r>
            <a:r>
              <a:rPr lang="uk-UA" dirty="0" err="1"/>
              <a:t>т.д</a:t>
            </a:r>
            <a:r>
              <a:rPr lang="uk-UA" dirty="0"/>
              <a:t>.;</a:t>
            </a:r>
          </a:p>
          <a:p>
            <a:r>
              <a:rPr lang="uk-UA" i="1" dirty="0"/>
              <a:t>Системна інтеграція</a:t>
            </a:r>
            <a:r>
              <a:rPr lang="uk-UA" dirty="0"/>
              <a:t> — діяльність, пов'язана із встановленням та налагодженням операційних систем, баз даних, офісних за стосунків, засобів зв'язку, структурованих кабельних систем і активних мережевих пристроїв, пристроїв зберігання даних, підключення до Інтернету, контролю доступу, живлення, системи аварійної сигналізації і </a:t>
            </a:r>
            <a:r>
              <a:rPr lang="uk-UA" dirty="0" err="1"/>
              <a:t>т.д</a:t>
            </a:r>
            <a:r>
              <a:rPr lang="uk-UA"/>
              <a:t>.</a:t>
            </a:r>
            <a:endParaRPr lang="uk-UA" dirty="0"/>
          </a:p>
        </p:txBody>
      </p:sp>
    </p:spTree>
    <p:extLst>
      <p:ext uri="{BB962C8B-B14F-4D97-AF65-F5344CB8AC3E}">
        <p14:creationId xmlns:p14="http://schemas.microsoft.com/office/powerpoint/2010/main" val="397826862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Натуральные материалы">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166</TotalTime>
  <Words>3002</Words>
  <Application>Microsoft Office PowerPoint</Application>
  <PresentationFormat>Широкоэкранный</PresentationFormat>
  <Paragraphs>181</Paragraphs>
  <Slides>30</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30</vt:i4>
      </vt:variant>
    </vt:vector>
  </HeadingPairs>
  <TitlesOfParts>
    <vt:vector size="35" baseType="lpstr">
      <vt:lpstr>Arial</vt:lpstr>
      <vt:lpstr>Calibri</vt:lpstr>
      <vt:lpstr>Garamond</vt:lpstr>
      <vt:lpstr>Times New Roman</vt:lpstr>
      <vt:lpstr>Натуральные материалы</vt:lpstr>
      <vt:lpstr>Конструювання програмного забезпечення </vt:lpstr>
      <vt:lpstr>Термінодогія</vt:lpstr>
      <vt:lpstr>Дії в процесі конструювання</vt:lpstr>
      <vt:lpstr>Область знань «Конструювання ПЗ (Software Construction)» </vt:lpstr>
      <vt:lpstr>Конструювання серед процесів побудови ПЗ</vt:lpstr>
      <vt:lpstr>Моделі конструювання програмного забезпечення</vt:lpstr>
      <vt:lpstr>Стратегії конструювання ПЗ</vt:lpstr>
      <vt:lpstr>Характеристики стратегій конструювання ПЗ</vt:lpstr>
      <vt:lpstr>Моделі систем</vt:lpstr>
      <vt:lpstr>Моделі при структурному аналізі та проектуванні описують</vt:lpstr>
      <vt:lpstr>Стандарт UML містить наступний набір діаграм</vt:lpstr>
      <vt:lpstr>Фундаментальні основи конструювання програмного забезпечення</vt:lpstr>
      <vt:lpstr>Фундаментальні основи конструювання ПЗ</vt:lpstr>
      <vt:lpstr>Управління конструюванням (Managing Construction)</vt:lpstr>
      <vt:lpstr>Планування конструювання (Construction Planning)</vt:lpstr>
      <vt:lpstr>Зміни в конструюванні та вимірювання в конструюванні (Construction Measurement)</vt:lpstr>
      <vt:lpstr>Практичні міркування (Practical Considerations)</vt:lpstr>
      <vt:lpstr>Мови конструювання</vt:lpstr>
      <vt:lpstr>Нотації при визначенні мов програмування</vt:lpstr>
      <vt:lpstr>Кодування (Coding)</vt:lpstr>
      <vt:lpstr>Тестування в конструюванні (Construction Testing)</vt:lpstr>
      <vt:lpstr>Повторне використання коду (англ. code reuse) </vt:lpstr>
      <vt:lpstr>Якість програмного забезпечення</vt:lpstr>
      <vt:lpstr>Функціональність</vt:lpstr>
      <vt:lpstr>Надійність</vt:lpstr>
      <vt:lpstr>Зручність використання</vt:lpstr>
      <vt:lpstr>Продуктивність</vt:lpstr>
      <vt:lpstr>Зручність супроводу</vt:lpstr>
      <vt:lpstr>Переносимість</vt:lpstr>
      <vt:lpstr>Інтеграція</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Конструювання програмного забезпечення</dc:title>
  <dc:creator>Tanya</dc:creator>
  <cp:lastModifiedBy>Tanya</cp:lastModifiedBy>
  <cp:revision>22</cp:revision>
  <dcterms:created xsi:type="dcterms:W3CDTF">2026-09-06T13:29:40Z</dcterms:created>
  <dcterms:modified xsi:type="dcterms:W3CDTF">2026-09-06T16:15:44Z</dcterms:modified>
</cp:coreProperties>
</file>